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a4e55d276c44cd" /><Relationship Type="http://schemas.openxmlformats.org/officeDocument/2006/relationships/extended-properties" Target="/docProps/app.xml" Id="Ra4bafb42c8f5400c" /><Relationship Type="http://schemas.openxmlformats.org/officeDocument/2006/relationships/officeDocument" Target="/ppt/presentation.xml" Id="R48c46f071c0f48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c5103f13ef482c"/>
  </p:sldMasterIdLst>
  <p:notesMasterIdLst>
    <p:notesMasterId xmlns:r="http://schemas.openxmlformats.org/officeDocument/2006/relationships" r:id="R8b26de55176e42ba"/>
  </p:notesMasterIdLst>
  <p:sldIdLst>
    <p:sldId xmlns:r="http://schemas.openxmlformats.org/officeDocument/2006/relationships" id="256" r:id="R4fe870d46c304f69"/>
    <p:sldId xmlns:r="http://schemas.openxmlformats.org/officeDocument/2006/relationships" id="257" r:id="R1c5e8889503249f4"/>
    <p:sldId xmlns:r="http://schemas.openxmlformats.org/officeDocument/2006/relationships" id="258" r:id="Re6719ed22df64776"/>
    <p:sldId xmlns:r="http://schemas.openxmlformats.org/officeDocument/2006/relationships" id="259" r:id="R0bd884f3bf9a43e9"/>
    <p:sldId xmlns:r="http://schemas.openxmlformats.org/officeDocument/2006/relationships" id="260" r:id="Rfd784b1d8fcd4281"/>
    <p:sldId xmlns:r="http://schemas.openxmlformats.org/officeDocument/2006/relationships" id="261" r:id="R9a7ac1a163ba4329"/>
    <p:sldId xmlns:r="http://schemas.openxmlformats.org/officeDocument/2006/relationships" id="262" r:id="R5b7a41d292834f4b"/>
    <p:sldId xmlns:r="http://schemas.openxmlformats.org/officeDocument/2006/relationships" id="263" r:id="Rc29d140a495049b1"/>
    <p:sldId xmlns:r="http://schemas.openxmlformats.org/officeDocument/2006/relationships" id="264" r:id="Ra79eb3d8986a4324"/>
    <p:sldId xmlns:r="http://schemas.openxmlformats.org/officeDocument/2006/relationships" id="265" r:id="Ra404dbad62954e63"/>
    <p:sldId xmlns:r="http://schemas.openxmlformats.org/officeDocument/2006/relationships" id="266" r:id="Rcac820f275c54a36"/>
    <p:sldId xmlns:r="http://schemas.openxmlformats.org/officeDocument/2006/relationships" id="267" r:id="R6b93c897d1d34b8b"/>
    <p:sldId xmlns:r="http://schemas.openxmlformats.org/officeDocument/2006/relationships" id="268" r:id="R239f7a1907b145f9"/>
    <p:sldId xmlns:r="http://schemas.openxmlformats.org/officeDocument/2006/relationships" id="269" r:id="R1b64ca2d2c7e4f11"/>
    <p:sldId xmlns:r="http://schemas.openxmlformats.org/officeDocument/2006/relationships" id="270" r:id="Rc582951c5fa54cae"/>
    <p:sldId xmlns:r="http://schemas.openxmlformats.org/officeDocument/2006/relationships" id="271" r:id="Rf63fc5e711cb4f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1fd0845b0641cd" /><Relationship Type="http://schemas.openxmlformats.org/officeDocument/2006/relationships/slideMaster" Target="/ppt/slideMasters/slideMaster1.xml" Id="Rabc5103f13ef482c" /><Relationship Type="http://schemas.openxmlformats.org/officeDocument/2006/relationships/notesMaster" Target="/ppt/notesMasters/notesMaster1.xml" Id="R8b26de55176e42ba" /><Relationship Type="http://schemas.openxmlformats.org/officeDocument/2006/relationships/presProps" Target="/ppt/presProps.xml" Id="R71e0b4099599474c" /><Relationship Type="http://schemas.openxmlformats.org/officeDocument/2006/relationships/tableStyles" Target="/ppt/tableStyles.xml" Id="Ra4fd6639fd22454f" /><Relationship Type="http://schemas.openxmlformats.org/officeDocument/2006/relationships/slide" Target="/ppt/slides/slide1.xml" Id="R4fe870d46c304f69" /><Relationship Type="http://schemas.openxmlformats.org/officeDocument/2006/relationships/slide" Target="/ppt/slides/slide2.xml" Id="R1c5e8889503249f4" /><Relationship Type="http://schemas.openxmlformats.org/officeDocument/2006/relationships/slide" Target="/ppt/slides/slide3.xml" Id="Re6719ed22df64776" /><Relationship Type="http://schemas.openxmlformats.org/officeDocument/2006/relationships/slide" Target="/ppt/slides/slide4.xml" Id="R0bd884f3bf9a43e9" /><Relationship Type="http://schemas.openxmlformats.org/officeDocument/2006/relationships/slide" Target="/ppt/slides/slide5.xml" Id="Rfd784b1d8fcd4281" /><Relationship Type="http://schemas.openxmlformats.org/officeDocument/2006/relationships/slide" Target="/ppt/slides/slide6.xml" Id="R9a7ac1a163ba4329" /><Relationship Type="http://schemas.openxmlformats.org/officeDocument/2006/relationships/slide" Target="/ppt/slides/slide7.xml" Id="R5b7a41d292834f4b" /><Relationship Type="http://schemas.openxmlformats.org/officeDocument/2006/relationships/slide" Target="/ppt/slides/slide8.xml" Id="Rc29d140a495049b1" /><Relationship Type="http://schemas.openxmlformats.org/officeDocument/2006/relationships/slide" Target="/ppt/slides/slide9.xml" Id="Ra79eb3d8986a4324" /><Relationship Type="http://schemas.openxmlformats.org/officeDocument/2006/relationships/slide" Target="/ppt/slides/slide10.xml" Id="Ra404dbad62954e63" /><Relationship Type="http://schemas.openxmlformats.org/officeDocument/2006/relationships/slide" Target="/ppt/slides/slide11.xml" Id="Rcac820f275c54a36" /><Relationship Type="http://schemas.openxmlformats.org/officeDocument/2006/relationships/slide" Target="/ppt/slides/slide12.xml" Id="R6b93c897d1d34b8b" /><Relationship Type="http://schemas.openxmlformats.org/officeDocument/2006/relationships/slide" Target="/ppt/slides/slide13.xml" Id="R239f7a1907b145f9" /><Relationship Type="http://schemas.openxmlformats.org/officeDocument/2006/relationships/slide" Target="/ppt/slides/slide14.xml" Id="R1b64ca2d2c7e4f11" /><Relationship Type="http://schemas.openxmlformats.org/officeDocument/2006/relationships/slide" Target="/ppt/slides/slide15.xml" Id="Rc582951c5fa54cae" /><Relationship Type="http://schemas.openxmlformats.org/officeDocument/2006/relationships/slide" Target="/ppt/slides/slide16.xml" Id="Rf63fc5e711cb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36cd35a1546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9468c3ee14fe9" /><Relationship Type="http://schemas.openxmlformats.org/officeDocument/2006/relationships/notesMaster" Target="/ppt/notesMasters/notesMaster1.xml" Id="Re50d223b5e2149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f2e0d8bdf84587" /><Relationship Type="http://schemas.openxmlformats.org/officeDocument/2006/relationships/notesMaster" Target="/ppt/notesMasters/notesMaster1.xml" Id="R082dc496cd0d41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01b2bd8199459b" /><Relationship Type="http://schemas.openxmlformats.org/officeDocument/2006/relationships/notesMaster" Target="/ppt/notesMasters/notesMaster1.xml" Id="R7997b978953144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5b89a6539e4a3f" /><Relationship Type="http://schemas.openxmlformats.org/officeDocument/2006/relationships/notesMaster" Target="/ppt/notesMasters/notesMaster1.xml" Id="Re1a6f39d2c75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2c2bc594134e3d" /><Relationship Type="http://schemas.openxmlformats.org/officeDocument/2006/relationships/notesMaster" Target="/ppt/notesMasters/notesMaster1.xml" Id="R2e41a1a6b0b24f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a21f181ccf40fc" /><Relationship Type="http://schemas.openxmlformats.org/officeDocument/2006/relationships/notesMaster" Target="/ppt/notesMasters/notesMaster1.xml" Id="R1d0a93d054b843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f7362d898048c2" /><Relationship Type="http://schemas.openxmlformats.org/officeDocument/2006/relationships/notesMaster" Target="/ppt/notesMasters/notesMaster1.xml" Id="R358fc159471c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d5638026364b15" /><Relationship Type="http://schemas.openxmlformats.org/officeDocument/2006/relationships/notesMaster" Target="/ppt/notesMasters/notesMaster1.xml" Id="R969548b693df46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2b4eca9e064d9f" /><Relationship Type="http://schemas.openxmlformats.org/officeDocument/2006/relationships/notesMaster" Target="/ppt/notesMasters/notesMaster1.xml" Id="R385da1a7467943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285490dca14b1d" /><Relationship Type="http://schemas.openxmlformats.org/officeDocument/2006/relationships/notesMaster" Target="/ppt/notesMasters/notesMaster1.xml" Id="Rb333d629710442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ad4e0af13943a2" /><Relationship Type="http://schemas.openxmlformats.org/officeDocument/2006/relationships/notesMaster" Target="/ppt/notesMasters/notesMaster1.xml" Id="Rf91e5959d8b744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b2e670723f4b9e" /><Relationship Type="http://schemas.openxmlformats.org/officeDocument/2006/relationships/notesMaster" Target="/ppt/notesMasters/notesMaster1.xml" Id="Re9421d7484c540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bf6faa870343fc" /><Relationship Type="http://schemas.openxmlformats.org/officeDocument/2006/relationships/notesMaster" Target="/ppt/notesMasters/notesMaster1.xml" Id="Raee3bf878a984c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5b610e62e648a0" /><Relationship Type="http://schemas.openxmlformats.org/officeDocument/2006/relationships/notesMaster" Target="/ppt/notesMasters/notesMaster1.xml" Id="R24ef516da3334e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3969673e9f4cd7" /><Relationship Type="http://schemas.openxmlformats.org/officeDocument/2006/relationships/notesMaster" Target="/ppt/notesMasters/notesMaster1.xml" Id="Rf7141f45e7614a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e9afda8f6e4f56" /><Relationship Type="http://schemas.openxmlformats.org/officeDocument/2006/relationships/notesMaster" Target="/ppt/notesMasters/notesMaster1.xml" Id="Raea6b77af4d04d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b00e43534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217d4e7a35494d" /><Relationship Type="http://schemas.openxmlformats.org/officeDocument/2006/relationships/slideLayout" Target="/ppt/slideLayouts/slideLayout1.xml" Id="R43e8fe94dcda49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8fe94dcda49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ec0cd57ba4918" /><Relationship Type="http://schemas.openxmlformats.org/officeDocument/2006/relationships/notesSlide" Target="/ppt/notesSlides/notesSlide1.xml" Id="R0f1fb84401064d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10fd6179a4e26" /><Relationship Type="http://schemas.openxmlformats.org/officeDocument/2006/relationships/notesSlide" Target="/ppt/notesSlides/notesSlide2.xml" Id="R34126ea1939541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19c3d9dbc4009" /><Relationship Type="http://schemas.openxmlformats.org/officeDocument/2006/relationships/notesSlide" Target="/ppt/notesSlides/notesSlide3.xml" Id="Rbecc988e72c9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e246acc524ca9" /><Relationship Type="http://schemas.openxmlformats.org/officeDocument/2006/relationships/notesSlide" Target="/ppt/notesSlides/notesSlide4.xml" Id="Ra137c8d0ed4a40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93b1335b74142" /><Relationship Type="http://schemas.openxmlformats.org/officeDocument/2006/relationships/notesSlide" Target="/ppt/notesSlides/notesSlide5.xml" Id="R6b167215ef1b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9d0c6197a458e" /><Relationship Type="http://schemas.openxmlformats.org/officeDocument/2006/relationships/notesSlide" Target="/ppt/notesSlides/notesSlide6.xml" Id="R6100e142ea7d44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bac13f6b643dc" /><Relationship Type="http://schemas.openxmlformats.org/officeDocument/2006/relationships/notesSlide" Target="/ppt/notesSlides/notesSlide7.xml" Id="Rf32919e2149a4b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3281acef44896" /><Relationship Type="http://schemas.openxmlformats.org/officeDocument/2006/relationships/notesSlide" Target="/ppt/notesSlides/notesSlide8.xml" Id="R357343b5f6f14c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01bf46aea4746" /><Relationship Type="http://schemas.openxmlformats.org/officeDocument/2006/relationships/notesSlide" Target="/ppt/notesSlides/notesSlide9.xml" Id="R141e4fa179cc42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cda933ab64ce7" /><Relationship Type="http://schemas.openxmlformats.org/officeDocument/2006/relationships/image" Target="/ppt/media/image.png" Id="R361445d98d3b4fb9" /><Relationship Type="http://schemas.openxmlformats.org/officeDocument/2006/relationships/notesSlide" Target="/ppt/notesSlides/notesSlide10.xml" Id="R2f5c21f4cf0b43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0ddd711d04dc8" /><Relationship Type="http://schemas.openxmlformats.org/officeDocument/2006/relationships/image" Target="/ppt/media/image2.png" Id="R990ec064e95242aa" /><Relationship Type="http://schemas.openxmlformats.org/officeDocument/2006/relationships/notesSlide" Target="/ppt/notesSlides/notesSlide11.xml" Id="R5ad8b31802bb4d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50ece194549b0" /><Relationship Type="http://schemas.openxmlformats.org/officeDocument/2006/relationships/image" Target="/ppt/media/image3.png" Id="Rc256b8c3ab8149b9" /><Relationship Type="http://schemas.openxmlformats.org/officeDocument/2006/relationships/notesSlide" Target="/ppt/notesSlides/notesSlide12.xml" Id="Re15cbffa3e9d4d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f2c070dc843ca" /><Relationship Type="http://schemas.openxmlformats.org/officeDocument/2006/relationships/image" Target="/ppt/media/image4.png" Id="Rcdc444931d554d0c" /><Relationship Type="http://schemas.openxmlformats.org/officeDocument/2006/relationships/notesSlide" Target="/ppt/notesSlides/notesSlide13.xml" Id="R531b6bfb27fc49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bcb8234994375" /><Relationship Type="http://schemas.openxmlformats.org/officeDocument/2006/relationships/image" Target="/ppt/media/image5.png" Id="R51703309e3e04980" /><Relationship Type="http://schemas.openxmlformats.org/officeDocument/2006/relationships/notesSlide" Target="/ppt/notesSlides/notesSlide14.xml" Id="R6555f98117104a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1572daee4419c" /><Relationship Type="http://schemas.openxmlformats.org/officeDocument/2006/relationships/image" Target="/ppt/media/image6.png" Id="R9bd4f17e68874955" /><Relationship Type="http://schemas.openxmlformats.org/officeDocument/2006/relationships/notesSlide" Target="/ppt/notesSlides/notesSlide15.xml" Id="Rc279ace3df9740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9cafcb7134db8" /><Relationship Type="http://schemas.openxmlformats.org/officeDocument/2006/relationships/notesSlide" Target="/ppt/notesSlides/notesSlide16.xml" Id="R22d807ac4fbf42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DF180-9FC8-48B2-90A6-1F9CDE67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2D5C4"/>
                </a:solidFill>
              </a:defRPr>
            </a:pPr>
            <a:r>
              <a:rPr sz="1125" b="1">
                <a:solidFill>
                  <a:srgbClr val="72D5C4"/>
                </a:solidFill>
              </a:rPr>
              <a:t>NEOSTATS · AI ENGINEER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CF0D4-7085-48D1-879F-F8CC8AF4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CreditLens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2DBB8-7B00-4E03-8749-06DD975B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7E5E8"/>
                </a:solidFill>
              </a:defRPr>
            </a:pPr>
            <a:r>
              <a:rPr sz="2250" b="0">
                <a:solidFill>
                  <a:srgbClr val="D7E5E8"/>
                </a:solidFill>
              </a:rPr>
              <a:t>Explainable credit-risk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C5D9E-B09E-4052-B774-4A24588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5CB"/>
                </a:solidFill>
              </a:defRPr>
            </a:pPr>
            <a:r>
              <a:rPr sz="1500" b="0">
                <a:solidFill>
                  <a:srgbClr val="AFC5CB"/>
                </a:solidFill>
              </a:rPr>
              <a:t>EDA · Default prediction · Explainability · Guarded NL-to-SQL · Docker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5B102-765E-4BE0-9C82-C661FE1D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43000"/>
            <a:ext cx="2476500" cy="3905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C2B45"/>
          </a:solidFill>
          <a:ln xmlns:a="http://schemas.openxmlformats.org/drawingml/2006/main" w="9525">
            <a:solidFill>
              <a:srgbClr val="1E50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2A2C4-E4F1-4413-974F-72D6C13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907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72D5C4"/>
                </a:solidFill>
              </a:defRPr>
            </a:pPr>
            <a:r>
              <a:rPr sz="3150" b="1">
                <a:solidFill>
                  <a:srgbClr val="72D5C4"/>
                </a:solidFill>
              </a:rPr>
              <a:t>0–1000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3F690-AAF4-440C-B4FB-D002772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RISK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2E0CE-69B8-44A8-B40E-D8897243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2D5C4"/>
                </a:solidFill>
              </a:defRPr>
            </a:pPr>
            <a:r>
              <a:rPr sz="1350" b="1">
                <a:solidFill>
                  <a:srgbClr val="72D5C4"/>
                </a:solidFill>
              </a:rPr>
              <a:t>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64BDC-3754-4D0B-9918-F17F272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57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860"/>
                </a:solidFill>
              </a:defRPr>
            </a:pPr>
            <a:r>
              <a:rPr sz="1350" b="1">
                <a:solidFill>
                  <a:srgbClr val="F4B860"/>
                </a:solidFill>
              </a:rPr>
              <a:t>MEDIUM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4A188-5AFD-4FC3-905D-FAB3E59E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080"/>
                </a:solidFill>
              </a:defRPr>
            </a:pPr>
            <a:r>
              <a:rPr sz="1350" b="1">
                <a:solidFill>
                  <a:srgbClr val="FF8080"/>
                </a:solidFill>
              </a:rPr>
              <a:t>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B5986-45B0-4471-8133-16EA96B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D5C4"/>
                </a:solidFill>
              </a:defRPr>
            </a:pPr>
            <a:r>
              <a:rPr sz="1200" b="1">
                <a:solidFill>
                  <a:srgbClr val="72D5C4"/>
                </a:solidFill>
              </a:rPr>
              <a:t>NeoStats Round 1 Submission</a:t>
            </a:r>
          </a:p>
        </p:txBody>
      </p:sp>
    </p:spTree>
    <p:extLst>
      <p:ext uri="{BB962C8B-B14F-4D97-AF65-F5344CB8AC3E}">
        <p14:creationId xmlns:p14="http://schemas.microsoft.com/office/powerpoint/2010/main" val="572508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5813C-20B6-4CDA-83C3-3123054A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69DE9-DF86-4EBE-842A-C96985A2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One platform connects evidence, scoring and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5232A-E7C6-45D6-A330-9403D98E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FF8B0-94E3-486F-A591-84890BA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A0D58-949B-461E-818B-156AA16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DE00A-E0C4-45A3-A212-AD316F72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981AC-DE8B-4D10-9DAB-29E54BA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D"/>
                </a:solidFill>
              </a:defRPr>
            </a:pPr>
            <a:r>
              <a:rPr sz="1800" b="1">
                <a:solidFill>
                  <a:srgbClr val="071A2D"/>
                </a:solidFill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2BDF3-B27E-43C3-B578-07DB6C12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A"/>
                </a:solidFill>
              </a:defRPr>
            </a:pPr>
            <a:r>
              <a:rPr sz="1500" b="0">
                <a:solidFill>
                  <a:srgbClr val="5D6B7A"/>
                </a:solidFill>
              </a:rPr>
              <a:t>Quality, distributions and business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59D43-6333-439B-B849-DF4A656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4210D-188F-4228-81B8-6CEB59EE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3AA6D-055C-4DB8-A9E1-F518AC6B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D"/>
                </a:solidFill>
              </a:defRPr>
            </a:pPr>
            <a:r>
              <a:rPr sz="1800" b="1">
                <a:solidFill>
                  <a:srgbClr val="071A2D"/>
                </a:solidFill>
              </a:rPr>
              <a:t>Predict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AF569-8A70-469C-8CD1-5F47F227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A"/>
                </a:solidFill>
              </a:defRPr>
            </a:pPr>
            <a:r>
              <a:rPr sz="1500" b="0">
                <a:solidFill>
                  <a:srgbClr val="5D6B7A"/>
                </a:solidFill>
              </a:rPr>
              <a:t>Default probability, score and risk band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9752A-6679-4885-96AA-DFC0FAC3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51C1E-74CC-434F-84FC-000B5A37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6D9A7-4C90-4749-8820-773C96C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D"/>
                </a:solidFill>
              </a:defRPr>
            </a:pPr>
            <a:r>
              <a:rPr sz="1800" b="1">
                <a:solidFill>
                  <a:srgbClr val="071A2D"/>
                </a:solidFill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B04AD-2FAA-4E88-A312-245BA4F5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528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A"/>
                </a:solidFill>
              </a:defRPr>
            </a:pPr>
            <a:r>
              <a:rPr sz="1500" b="0">
                <a:solidFill>
                  <a:srgbClr val="5D6B7A"/>
                </a:solidFill>
              </a:rPr>
              <a:t>Local drivers and readable surrogate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92D2E-CAEB-49A8-887B-76FCCA3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4A3CA-6E81-4847-8786-23FF9720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54482-F0DC-4C34-827B-4C8971E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24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D"/>
                </a:solidFill>
              </a:defRPr>
            </a:pPr>
            <a:r>
              <a:rPr sz="1800" b="1">
                <a:solidFill>
                  <a:srgbClr val="071A2D"/>
                </a:solidFill>
              </a:rPr>
              <a:t>Explore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661CD-521A-436F-9030-5E811F7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A"/>
                </a:solidFill>
              </a:defRPr>
            </a:pPr>
            <a:r>
              <a:rPr sz="1500" b="0">
                <a:solidFill>
                  <a:srgbClr val="5D6B7A"/>
                </a:solidFill>
              </a:rPr>
              <a:t>Natural language to validated SQL</a:t>
            </a:r>
          </a:p>
        </p:txBody>
      </p:sp>
    </p:spTree>
    <p:extLst>
      <p:ext uri="{BB962C8B-B14F-4D97-AF65-F5344CB8AC3E}">
        <p14:creationId xmlns:p14="http://schemas.microsoft.com/office/powerpoint/2010/main" val="66037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3987F-16F0-4038-B0F1-1FEB4FF6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0BAA7-6FA2-4967-9E3E-5CD52A3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The architecture keeps every decision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CCA06-B751-42F1-B1CB-15886DF9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40E0A-4AF2-4A76-8CCA-193812A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70E4E-B5BC-47CA-8639-E3E9A801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F438A-C228-4BFE-B608-813BC9C7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19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11140-D07B-435F-AD73-D02D5187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B9477-0B3B-49F1-908B-45B4D4BA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69717-2608-4211-A1A8-C4537B9D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55970-D8B6-492C-A00A-056D5A6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Home Credit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67A05-C34B-413A-A59A-A50E496B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A2061-2567-4427-A2AA-A8425207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670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Preprocessing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B0B00-5D49-48FE-A7FF-5162305F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0B7E7-B005-47BA-AA2C-5A06AF42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Risk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2A70D-8DB5-4AFA-A051-6341D01B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6F06D-000C-4647-B342-E056BEC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670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Explanations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1604C-BB5B-4505-9B99-7E27AB29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88637-FB25-4CDD-BD0D-22B6194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Streamlit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261F4-5951-49F7-B730-2875B48C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Business 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8B0E4-A480-43B5-A1AC-4970F896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Gemini / 5 fallbacks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F9DBA-AC92-4125-BB21-6932DB0D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SQL guard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EC223-718F-4E00-95B2-FD8AE355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DuckDB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C1F9B-4A80-4B88-B7DD-80071B3F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2DBBB-A991-4B9C-AF5D-A61F77A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624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7FDBF-E3B3-437E-AB3C-4A94516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6C74D-C931-4500-93FB-B54F5CAC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One SELECT · table whitelist · mutation blocking · row limit</a:t>
            </a:r>
          </a:p>
        </p:txBody>
      </p:sp>
    </p:spTree>
    <p:extLst>
      <p:ext uri="{BB962C8B-B14F-4D97-AF65-F5344CB8AC3E}">
        <p14:creationId xmlns:p14="http://schemas.microsoft.com/office/powerpoint/2010/main" val="843873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50EE5-F107-4AD5-9344-57AC0E6F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462C1-5212-467B-A4AA-3FA3F703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EDA turns data quality into five lending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E8277-FBCE-4B57-8F95-0A888E1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180E1-DE7B-45E1-B6E3-5262C246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D17CC-9632-4820-8BBC-40DDF437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2861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82AE2-7F4C-4C30-BE03-5E6608D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71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F7644-C2E5-44C2-8C09-E2B18F2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09800"/>
            <a:ext cx="2524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Do external scores separate defaults?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77688-6E22-4ED7-85BB-5B9AC809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2861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33A67-10EC-465C-9945-F3EDEF0A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71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60D6F-0A07-4B20-B586-B3800697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09800"/>
            <a:ext cx="2524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Which income groups carry higher risk?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519C3-D121-4C02-B915-02D79FE7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32861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05EA6-6AE9-4B5B-90E7-F63F225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71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04257-BD44-4ABA-9DE9-5C610D6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9800"/>
            <a:ext cx="2524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Where does credit exceed affordable income?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E01A5-CDA4-43E0-8FBE-A6BF000C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05250"/>
            <a:ext cx="37623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EC9C5-96C2-4489-AE92-C8E2A98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76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8EC42-E14C-4C39-9C71-773C9B7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148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How do age and employment stability matter?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D07CB-7287-4C34-B5F6-7D02D936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37623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24C95-7F70-4518-AA47-519CA7EA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76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C9A8-B7A1-4226-A8EF-A27127F9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D"/>
                </a:solidFill>
              </a:defRPr>
            </a:pPr>
            <a:r>
              <a:rPr sz="1500" b="1">
                <a:solidFill>
                  <a:srgbClr val="071A2D"/>
                </a:solidFill>
              </a:rPr>
              <a:t>Can missingness reveal process weakness?</a:t>
            </a:r>
          </a:p>
        </p:txBody>
      </p:sp>
    </p:spTree>
    <p:extLst>
      <p:ext uri="{BB962C8B-B14F-4D97-AF65-F5344CB8AC3E}">
        <p14:creationId xmlns:p14="http://schemas.microsoft.com/office/powerpoint/2010/main" val="1678221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D820C-D88F-4DF9-8394-6C8A3096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23B26-C6DD-4D8C-9730-3032E2FC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A transparent baseline handles imbalance deliberately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B396-CFA6-4FE6-A2EF-E231B9CA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4D00F-E752-413B-B35B-C96A5AD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5D04E-F127-455A-88A7-BE5BFDDC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571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97D51-85C6-4BF3-87A2-D639198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2F320-8C2B-4138-82F1-CC37FF88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907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80/20 stratified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1AAA-A2FA-485D-8158-2055A174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571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7B9D0-E103-46B3-AB4A-601D36D4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944C1-B616-4DF3-BDE9-2EA47D9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670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Impute · scale · encode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28B19-6FCD-4C29-9023-B01F867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571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E140C-DE41-4B33-A30B-BF03EFDC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9ED9F-387E-4873-9AF1-784DCF71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433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Class-weighted logistic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612C5-F0A8-4A9C-931A-01E97401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571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8F7E3-CC08-4B02-B52F-A9406494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9BFCE-9817-4A0B-BBB0-40B31A7E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96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</a:defRPr>
            </a:pPr>
            <a:r>
              <a:rPr sz="1575" b="0">
                <a:solidFill>
                  <a:srgbClr val="132238"/>
                </a:solidFill>
              </a:rPr>
              <a:t>ROC-AUC · PR-AUC · confusion matrix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220E2-936C-4949-9A2D-B1D5FCA6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14325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071A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801F5-F6C6-41D8-A62E-E18A3E72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D5C4"/>
                </a:solidFill>
              </a:defRPr>
            </a:pPr>
            <a:r>
              <a:rPr sz="1125" b="1">
                <a:solidFill>
                  <a:srgbClr val="72D5C4"/>
                </a:solidFill>
              </a:rPr>
              <a:t>WHY THIS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45F61-E13D-497E-B4C2-35046005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6600B-F0C0-49B1-B35B-6B6F1F99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Auditable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56F15-9BBE-4E30-AF15-B3041083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Deployable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2FAFA-F003-4041-936D-63CEE3AF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Exact metrics are generated after training—never hard-coded.</a:t>
            </a:r>
          </a:p>
        </p:txBody>
      </p:sp>
    </p:spTree>
    <p:extLst>
      <p:ext uri="{BB962C8B-B14F-4D97-AF65-F5344CB8AC3E}">
        <p14:creationId xmlns:p14="http://schemas.microsoft.com/office/powerpoint/2010/main" val="418728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E1E6A-9412-4267-9588-1DE7D87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EBBEB-77BB-4F84-8D4B-0452511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Every applicant receives probability, score and band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5603D-E366-4309-92F8-0BA57F75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51FB5-A9BD-4151-977F-00750F2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07746-5198-49F2-BD7B-EF779AB9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908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AC793-2711-4A2A-ACDF-565C35B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DEFAULT PROBABILITY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8AE99-56BD-419E-8381-E8B052D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2D"/>
                </a:solidFill>
              </a:defRPr>
            </a:pPr>
            <a:r>
              <a:rPr sz="1800" b="1">
                <a:solidFill>
                  <a:srgbClr val="071A2D"/>
                </a:solidFill>
              </a:rPr>
              <a:t>Model estimate from 0% to 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4A38E-BF78-4C1A-86FF-54AED1A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1908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FE6B5-65B2-4ADE-9A7C-3C00D569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RISK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23259-8122-471B-9ADB-2B306FB9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43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2D"/>
                </a:solidFill>
              </a:defRPr>
            </a:pPr>
            <a:r>
              <a:rPr sz="1800" b="1">
                <a:solidFill>
                  <a:srgbClr val="071A2D"/>
                </a:solidFill>
              </a:rPr>
              <a:t>Probability translated to 0–1000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86D76-C3DB-423A-A0E5-8C10FA94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1908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80CCD-A24A-4450-8BC0-2DB445FF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RISK BAND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E02B7-CC3A-48B9-A664-BF29E716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2D"/>
                </a:solidFill>
              </a:defRPr>
            </a:pPr>
            <a:r>
              <a:rPr sz="1800" b="1">
                <a:solidFill>
                  <a:srgbClr val="071A2D"/>
                </a:solidFill>
              </a:rPr>
              <a:t>Low &lt;10% · Medium &lt;25% · High ≥25%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75D70-28DB-4C0A-871A-D7364AF0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B7A"/>
                </a:solidFill>
              </a:defRPr>
            </a:pPr>
            <a:r>
              <a:rPr sz="1575" b="0">
                <a:solidFill>
                  <a:srgbClr val="5D6B7A"/>
                </a:solidFill>
              </a:rPr>
              <a:t>Demonstration thresholds must be calibrated to lending loss, approval capacity and policy.</a:t>
            </a:r>
          </a:p>
        </p:txBody>
      </p:sp>
    </p:spTree>
    <p:extLst>
      <p:ext uri="{BB962C8B-B14F-4D97-AF65-F5344CB8AC3E}">
        <p14:creationId xmlns:p14="http://schemas.microsoft.com/office/powerpoint/2010/main" val="1324470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F2367-720B-46A5-87E6-4019596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40C34-B458-47E1-B2CB-0113AF67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Explanations support review without claiming causality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CD606-AB53-4719-8B51-786B8859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F6D54-A685-41A4-A246-4901846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DF7CE-21E6-4280-A7D5-6C2D55D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1A43-071F-419D-B782-B8D5067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LOCAL SHAP CONTRIBUTIONS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765ED-D592-4108-922A-D39FA1D7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EXT_SOURCE_2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2DED9-1CB2-45A9-A1F1-E0D71EE8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5D378-DFC7-4F15-97F6-4EB75F21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AMT_CREDIT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83B1E-ED37-4AE0-91C7-6F7CC673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024B6-96D1-4CC5-8DC3-813C251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DAYS_EMPLOYED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1658E-7125-4A3C-A28E-6D20CF0F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877C2-95F8-4C90-9B9E-EB067F3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INCOME_TYPE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D5F5D-4BF5-4733-A2E4-27EF8F7B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744D0-EB61-46FE-81DF-0D77769F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071A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B276F-AAC7-44D1-8D0E-233C748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D5C4"/>
                </a:solidFill>
              </a:defRPr>
            </a:pPr>
            <a:r>
              <a:rPr sz="1200" b="1">
                <a:solidFill>
                  <a:srgbClr val="72D5C4"/>
                </a:solidFill>
              </a:rPr>
              <a:t>READABLE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7DF07-4E5B-4FA4-97FC-D4B7176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shallow surrogate tree summarizes model behaviour for business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EA02B-7E7B-41E3-AD9E-DE1103B2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B4"/>
                </a:solidFill>
              </a:defRPr>
            </a:pPr>
            <a:r>
              <a:rPr sz="1500" b="1">
                <a:solidFill>
                  <a:srgbClr val="FFB4B4"/>
                </a:solidFill>
              </a:rPr>
              <a:t>Not policy. Not causal. Validate before use.</a:t>
            </a:r>
          </a:p>
        </p:txBody>
      </p:sp>
    </p:spTree>
    <p:extLst>
      <p:ext uri="{BB962C8B-B14F-4D97-AF65-F5344CB8AC3E}">
        <p14:creationId xmlns:p14="http://schemas.microsoft.com/office/powerpoint/2010/main" val="1180436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D2310-F1C6-4A99-84B8-4F61B65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75FD3-8026-4501-B6B9-0CDBF134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The chatbot treats generated SQL as untrusted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EC464-1CF7-45BB-A3C7-5052F21F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27375-BA22-431B-80CE-4A82661F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126E2-6213-43FD-86F8-30A49E9A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1C415-DE87-4D50-81A1-3015FF24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97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89D6D-D2CE-46AC-B0D4-FCECB11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D"/>
                </a:solidFill>
              </a:defRPr>
            </a:pPr>
            <a:r>
              <a:rPr sz="1650" b="1">
                <a:solidFill>
                  <a:srgbClr val="071A2D"/>
                </a:solidFill>
              </a:rPr>
              <a:t>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B6793-EAD1-4B90-BC3C-1A2D399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Schema + target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88398-EFC7-4BB3-91EE-80F8279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7F787-13B6-4B2C-9CB1-6F0AB8F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526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7F8C0-B6FB-48EF-A99D-33864790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97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ED6AD-B7F8-47CE-8FBB-8FE8772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D"/>
                </a:solidFill>
              </a:defRPr>
            </a:pPr>
            <a:r>
              <a:rPr sz="1650" b="1">
                <a:solidFill>
                  <a:srgbClr val="071A2D"/>
                </a:solidFill>
              </a:rPr>
              <a:t>Generate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2F613-C007-4336-86C0-E9327D8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Gemini or deterministic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92D03-9C2C-46CD-B0F8-9632949F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145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8405F-B3D2-4647-AA6E-6BA1052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9526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D68F0-577F-40B2-AF92-A566E73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097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A35BC-4FA6-49AE-9054-B6C07595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D"/>
                </a:solidFill>
              </a:defRPr>
            </a:pPr>
            <a:r>
              <a:rPr sz="1650" b="1">
                <a:solidFill>
                  <a:srgbClr val="071A2D"/>
                </a:solidFill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4CB00-0956-499C-A3AC-56A38C44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Parse AST · allow SELECT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7C1CE-01CC-4757-83A7-9604EE3F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52330-75DE-4777-BD5F-A4C7196A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024FD-6840-4CF2-866A-54D1B5A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97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0A37C-8026-41D9-A63A-FEC02A58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D"/>
                </a:solidFill>
              </a:defRPr>
            </a:pPr>
            <a:r>
              <a:rPr sz="1650" b="1">
                <a:solidFill>
                  <a:srgbClr val="071A2D"/>
                </a:solidFill>
              </a:rPr>
              <a:t>Execute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496F5-3C22-47BE-BAC4-EF2DA626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DuckDB · LIMIT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BAB26-4C08-4EAE-AFA9-12146B81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60AB8-E2B1-49F9-8750-E5A1368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526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43D45-63B6-40A7-BAB3-660F771F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097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AD05F-ACBF-445C-8589-2DE8925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D"/>
                </a:solidFill>
              </a:defRPr>
            </a:pPr>
            <a:r>
              <a:rPr sz="1650" b="1">
                <a:solidFill>
                  <a:srgbClr val="071A2D"/>
                </a:solidFill>
              </a:rPr>
              <a:t>Show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A20D6-B580-41B0-A563-C79FA619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Result table + exact SQL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968DA-4AB5-44D9-95AF-1977AD0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577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Five working questions remain available even without an API key.</a:t>
            </a:r>
          </a:p>
        </p:txBody>
      </p:sp>
    </p:spTree>
    <p:extLst>
      <p:ext uri="{BB962C8B-B14F-4D97-AF65-F5344CB8AC3E}">
        <p14:creationId xmlns:p14="http://schemas.microsoft.com/office/powerpoint/2010/main" val="31178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0D1A6-CC3F-4A21-9294-57386D95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ED703-3C7C-41C0-B284-67D3AB4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The evaluator can run the complete app with one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F5346-C93D-4A84-84CA-270850B7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BF692-F0D9-4241-A511-751D9BE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570A2-8C96-4BC8-AC06-405DE9D0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715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071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71191-8974-4ED5-8EB1-8F83E03A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9875"/>
            <a:ext cx="576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2D5C4"/>
                </a:solidFill>
              </a:defRPr>
            </a:pPr>
            <a:r>
              <a:rPr sz="2550" b="1">
                <a:solidFill>
                  <a:srgbClr val="72D5C4"/>
                </a:solidFill>
              </a:rPr>
              <a:t>docker compose up --build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5BF40-789E-43FF-85F4-91B3B906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585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Dataset mounted read-only · model artifact persisted · health check enabled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82BEA-B21C-40D2-9893-D60537C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F86EC-BD6A-4046-B853-B1C05DAF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Modular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8E1B-2896-4D29-906C-D5DE0C1D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289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89442-39BE-45F8-A472-CA0FCF48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Environment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0106A-3C15-450E-92AD-1BB92D1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575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7B8CE-C6FB-4D13-95DB-5218ED65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Saved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B7801-7241-4F74-B58B-912AD5C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862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3F2F3-5BFD-43E4-AF22-4C9CA387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Core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36006-D5CA-4221-9F71-7FD3C31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14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64921-90F2-4A87-82B2-0646840E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No dataset in Git</a:t>
            </a:r>
          </a:p>
        </p:txBody>
      </p:sp>
    </p:spTree>
    <p:extLst>
      <p:ext uri="{BB962C8B-B14F-4D97-AF65-F5344CB8AC3E}">
        <p14:creationId xmlns:p14="http://schemas.microsoft.com/office/powerpoint/2010/main" val="1762142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B3197-7568-4FA1-9652-D084DBB3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VALIDATED APPLICATION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B9B0E-4B3A-4F94-A534-F2352E1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EDA confirms scale, imbalance and portfolio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C8B59-DB02-4969-9007-BF03956E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2144C-CA69-4839-BC33-89CEDBB2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445d98d3b4fb9"/>
          <a:stretch xmlns:a="http://schemas.openxmlformats.org/drawingml/2006/main"/>
        </p:blipFill>
        <p:spPr>
          <a:xfrm xmlns:a="http://schemas.openxmlformats.org/drawingml/2006/main">
            <a:off x="1553812" y="1666875"/>
            <a:ext cx="9084377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23DAD-5CEB-4D41-8A31-E530209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307,511 applications · 121 source features · 8.07% observed default rate</a:t>
            </a:r>
          </a:p>
        </p:txBody>
      </p:sp>
    </p:spTree>
    <p:extLst>
      <p:ext uri="{BB962C8B-B14F-4D97-AF65-F5344CB8AC3E}">
        <p14:creationId xmlns:p14="http://schemas.microsoft.com/office/powerpoint/2010/main" val="909735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B80EE-1835-47A5-BA58-7C51D679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VALIDATED APPLICATION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95EF9-41D9-43E4-9EBB-3D39231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Applicant scoring produces an actionable risk band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36513-2F5D-4DED-A38E-B758D71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EF882-615A-4499-9525-D517F4B1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ec064e95242aa"/>
          <a:stretch xmlns:a="http://schemas.openxmlformats.org/drawingml/2006/main"/>
        </p:blipFill>
        <p:spPr>
          <a:xfrm xmlns:a="http://schemas.openxmlformats.org/drawingml/2006/main">
            <a:off x="1585330" y="1666875"/>
            <a:ext cx="9021341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F2BC1-175C-4DA5-A3BB-AC79114E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Example output: 61.7% default probability · score 617 · High risk</a:t>
            </a:r>
          </a:p>
        </p:txBody>
      </p:sp>
    </p:spTree>
    <p:extLst>
      <p:ext uri="{BB962C8B-B14F-4D97-AF65-F5344CB8AC3E}">
        <p14:creationId xmlns:p14="http://schemas.microsoft.com/office/powerpoint/2010/main" val="656476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90947-F556-4951-8BF1-F7BF56E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VALIDATED APPLICATION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09394-8ADC-4789-8F30-D50A17C8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SHAP identifies the strongest drivers for one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1190A-E136-436C-BCF2-DD2E57C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FF286-9CCD-4D14-82B8-CEEA38F8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6b8c3ab8149b9"/>
          <a:stretch xmlns:a="http://schemas.openxmlformats.org/drawingml/2006/main"/>
        </p:blipFill>
        <p:spPr>
          <a:xfrm xmlns:a="http://schemas.openxmlformats.org/drawingml/2006/main">
            <a:off x="1278296" y="1666875"/>
            <a:ext cx="9635409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49A7C-B202-4154-BB81-C297B20D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Red increases predicted risk; teal reduces predicted risk. Contributions are not causal.</a:t>
            </a:r>
          </a:p>
        </p:txBody>
      </p:sp>
    </p:spTree>
    <p:extLst>
      <p:ext uri="{BB962C8B-B14F-4D97-AF65-F5344CB8AC3E}">
        <p14:creationId xmlns:p14="http://schemas.microsoft.com/office/powerpoint/2010/main" val="14891229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CDA06-C8D7-4D5A-AE04-0800F3B3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VALIDATED APPLICATION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D8FDE-DCBC-43E9-91FE-DD7BC1A2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Surrogate rules translate model behaviour for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40C54-0D56-44AD-8432-69F6AA5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A387B-9F5A-4BA4-B676-B53F28A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444931d554d0c"/>
          <a:stretch xmlns:a="http://schemas.openxmlformats.org/drawingml/2006/main"/>
        </p:blipFill>
        <p:spPr>
          <a:xfrm xmlns:a="http://schemas.openxmlformats.org/drawingml/2006/main">
            <a:off x="1526693" y="1666875"/>
            <a:ext cx="9138614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ADD72-B9C5-481C-AA4D-5CFE2AC5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Depth-3 rules support audit discussion and require policy-owner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0629111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AE994-CB11-4201-BA25-C8E8BB5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VALIDATED APPLICATION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6260D-F3FD-4A5D-AE41-1BF9AA83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Natural-language questions return validated SQL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2321C-3C06-4ECC-AB4E-970B1506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8B695-C892-4D83-974C-3A7A8BA4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14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03309e3e04980"/>
          <a:stretch xmlns:a="http://schemas.openxmlformats.org/drawingml/2006/main"/>
        </p:blipFill>
        <p:spPr>
          <a:xfrm xmlns:a="http://schemas.openxmlformats.org/drawingml/2006/main">
            <a:off x="1573592" y="1666875"/>
            <a:ext cx="9044816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EEF42-B1CB-46A2-B09A-AF478E41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Verified patterns include overall default rate and default rate by gender.</a:t>
            </a:r>
          </a:p>
        </p:txBody>
      </p:sp>
    </p:spTree>
    <p:extLst>
      <p:ext uri="{BB962C8B-B14F-4D97-AF65-F5344CB8AC3E}">
        <p14:creationId xmlns:p14="http://schemas.microsoft.com/office/powerpoint/2010/main" val="11060037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EFA21-68C9-4772-8639-7A98CA76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VALIDATED APPLICATION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4768C-ACCE-4292-B842-00B391FE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The baseline separates risk with ROC-AUC 0.744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06B13-3FBA-435C-87C6-177E88C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5285A-3BDC-4EAB-9B6C-EA171576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4f17e68874955"/>
          <a:stretch xmlns:a="http://schemas.openxmlformats.org/drawingml/2006/main"/>
        </p:blipFill>
        <p:spPr>
          <a:xfrm xmlns:a="http://schemas.openxmlformats.org/drawingml/2006/main">
            <a:off x="1612435" y="1666875"/>
            <a:ext cx="8967130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A70A2-CBB3-455C-AE3E-061CB1AB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PR-AUC 0.225 · 61,503 test rows · stratified split and class-weighted training</a:t>
            </a:r>
          </a:p>
        </p:txBody>
      </p:sp>
    </p:spTree>
    <p:extLst>
      <p:ext uri="{BB962C8B-B14F-4D97-AF65-F5344CB8AC3E}">
        <p14:creationId xmlns:p14="http://schemas.microsoft.com/office/powerpoint/2010/main" val="14299003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2F7DB-BD50-452D-B45E-C454558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CREDITLENS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0FE0F-8539-4891-AE3E-3CBA74D8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D"/>
                </a:solidFill>
              </a:defRPr>
            </a:pPr>
            <a:r>
              <a:rPr sz="2700" b="1">
                <a:solidFill>
                  <a:srgbClr val="071A2D"/>
                </a:solidFill>
              </a:rPr>
              <a:t>The prototype is complete—and honest about production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A568F-AB24-40F3-9B05-73718D14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C8AE1-D60B-4837-9150-6FC8820B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A"/>
                </a:solidFill>
              </a:defRPr>
            </a:pPr>
            <a:r>
              <a:rPr sz="900" b="1">
                <a:solidFill>
                  <a:srgbClr val="5D6B7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1D999-692C-45E4-8D65-3987C6E8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DELIVERED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F89E1-BD93-475E-82E0-2BDF17B0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PRODUCTION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5DAC6-9532-4977-BF44-938EA9DD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✓  EDA + data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22C40-755A-4A17-ADC1-B643FBCB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✓  Class-balanced risk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42BB2-DC6F-48AF-B03C-5B1CD3E4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✓  SHAP explanations +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DD7B5-EF0E-414E-AF8C-B6C00BF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✓  Guarded talk-to-data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D485E-BF1D-4704-93A1-B375ADC6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✓  Streamlit + Docker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61941-7050-4B1C-8D18-450A7896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→  Join bureau and repayment tables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3E112-0AA2-49BE-89BC-11BFDE6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→  Calibrate bands to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C3C13-671C-413A-AA65-7DF550E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→  Fairness and subgroup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D5C30-8214-41D2-8557-AF3A3731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→  Drift + model 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7CEFF-C4E2-4472-A4FC-DA11851E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</a:defRPr>
            </a:pPr>
            <a:r>
              <a:rPr sz="1575" b="1">
                <a:solidFill>
                  <a:srgbClr val="071A2D"/>
                </a:solidFill>
              </a:rPr>
              <a:t>→  Authentication and PII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D1BA6-9516-4D26-B91D-771821F8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67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Decision support, with human review and policy governance.</a:t>
            </a:r>
          </a:p>
        </p:txBody>
      </p:sp>
    </p:spTree>
    <p:extLst>
      <p:ext uri="{BB962C8B-B14F-4D97-AF65-F5344CB8AC3E}">
        <p14:creationId xmlns:p14="http://schemas.microsoft.com/office/powerpoint/2010/main" val="1452640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2026-09-05T18:48:49.5430000Z</dcterms:created>
  <dcterms:modified xsi:type="dcterms:W3CDTF">2026-09-05T18:48:49.5430000Z</dcterms:modified>
</coreProperties>
</file>