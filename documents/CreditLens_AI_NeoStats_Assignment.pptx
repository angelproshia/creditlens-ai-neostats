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A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C6DF180-9FC8-48B2-90A6-1F9CDE67D286}"/>
              </a:ext>
            </a:extLst>
          </p:cNvPr>
          <p:cNvSpPr>
            <a:spLocks noGrp="1"/>
          </p:cNvSpPr>
          <p:nvPr/>
        </p:nvSpPr>
        <p:spPr>
          <a:xfrm>
            <a:off x="685800" y="7048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72D5C4"/>
                </a:solidFill>
              </a:defRPr>
            </a:pPr>
            <a:r>
              <a:rPr sz="1125" b="1">
                <a:solidFill>
                  <a:srgbClr val="72D5C4"/>
                </a:solidFill>
              </a:rPr>
              <a:t>NEOSTATS · AI ENGINEER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9CF0D4-7085-48D1-879F-F8CC8AF4583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619125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CreditLens AI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B2DBB8-7B00-4E03-8749-06DD975B9554}"/>
              </a:ext>
            </a:extLst>
          </p:cNvPr>
          <p:cNvSpPr>
            <a:spLocks noGrp="1"/>
          </p:cNvSpPr>
          <p:nvPr/>
        </p:nvSpPr>
        <p:spPr>
          <a:xfrm>
            <a:off x="685800" y="2524125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0">
                <a:solidFill>
                  <a:srgbClr val="D7E5E8"/>
                </a:solidFill>
              </a:defRPr>
            </a:pPr>
            <a:r>
              <a:rPr sz="2250" b="0">
                <a:solidFill>
                  <a:srgbClr val="D7E5E8"/>
                </a:solidFill>
              </a:rPr>
              <a:t>Explainable credit-risk intelligence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DC5D9E-B09E-4052-B774-4A24588B4DCD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809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AFC5CB"/>
                </a:solidFill>
              </a:defRPr>
            </a:pPr>
            <a:r>
              <a:rPr sz="1500" b="0">
                <a:solidFill>
                  <a:srgbClr val="AFC5CB"/>
                </a:solidFill>
              </a:rPr>
              <a:t>EDA · Default prediction · Explainability · Guarded NL-to-SQL · Docker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B25B102-765E-4BE0-9C82-C661FE1D7359}"/>
              </a:ext>
            </a:extLst>
          </p:cNvPr>
          <p:cNvSpPr>
            <a:spLocks noGrp="1"/>
          </p:cNvSpPr>
          <p:nvPr/>
        </p:nvSpPr>
        <p:spPr>
          <a:xfrm>
            <a:off x="8620125" y="1143000"/>
            <a:ext cx="2476500" cy="3905250"/>
          </a:xfrm>
          <a:prstGeom prst="roundRect">
            <a:avLst>
              <a:gd name="adj" fmla="val 4615"/>
            </a:avLst>
          </a:prstGeom>
          <a:solidFill>
            <a:srgbClr val="0C2B45"/>
          </a:solidFill>
          <a:ln w="9525">
            <a:solidFill>
              <a:srgbClr val="1E5067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E2A2C4-E4F1-4413-974F-72D6C1381920}"/>
              </a:ext>
            </a:extLst>
          </p:cNvPr>
          <p:cNvSpPr>
            <a:spLocks noGrp="1"/>
          </p:cNvSpPr>
          <p:nvPr/>
        </p:nvSpPr>
        <p:spPr>
          <a:xfrm>
            <a:off x="9001125" y="1790700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150" b="1">
                <a:solidFill>
                  <a:srgbClr val="72D5C4"/>
                </a:solidFill>
              </a:defRPr>
            </a:pPr>
            <a:r>
              <a:rPr sz="3150" b="1">
                <a:solidFill>
                  <a:srgbClr val="72D5C4"/>
                </a:solidFill>
              </a:rPr>
              <a:t>0–1000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73F690-AAF4-440C-B4FB-D00277283118}"/>
              </a:ext>
            </a:extLst>
          </p:cNvPr>
          <p:cNvSpPr>
            <a:spLocks noGrp="1"/>
          </p:cNvSpPr>
          <p:nvPr/>
        </p:nvSpPr>
        <p:spPr>
          <a:xfrm>
            <a:off x="9001125" y="234315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72E0CE-69B8-44A8-B40E-D88972432B57}"/>
              </a:ext>
            </a:extLst>
          </p:cNvPr>
          <p:cNvSpPr>
            <a:spLocks noGrp="1"/>
          </p:cNvSpPr>
          <p:nvPr/>
        </p:nvSpPr>
        <p:spPr>
          <a:xfrm>
            <a:off x="9096375" y="31432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72D5C4"/>
                </a:solidFill>
              </a:defRPr>
            </a:pPr>
            <a:r>
              <a:rPr sz="1350" b="1">
                <a:solidFill>
                  <a:srgbClr val="72D5C4"/>
                </a:solidFill>
              </a:rPr>
              <a:t>LOW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A64BDC-3754-4D0B-9918-F17F27255F28}"/>
              </a:ext>
            </a:extLst>
          </p:cNvPr>
          <p:cNvSpPr>
            <a:spLocks noGrp="1"/>
          </p:cNvSpPr>
          <p:nvPr/>
        </p:nvSpPr>
        <p:spPr>
          <a:xfrm>
            <a:off x="9096375" y="36576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4B860"/>
                </a:solidFill>
              </a:defRPr>
            </a:pPr>
            <a:r>
              <a:rPr sz="1350" b="1">
                <a:solidFill>
                  <a:srgbClr val="F4B860"/>
                </a:solidFill>
              </a:rPr>
              <a:t>MEDIUM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D4A188-5AFD-4FC3-905D-FAB3E59E2BCF}"/>
              </a:ext>
            </a:extLst>
          </p:cNvPr>
          <p:cNvSpPr>
            <a:spLocks noGrp="1"/>
          </p:cNvSpPr>
          <p:nvPr/>
        </p:nvSpPr>
        <p:spPr>
          <a:xfrm>
            <a:off x="9096375" y="41719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8080"/>
                </a:solidFill>
              </a:defRPr>
            </a:pPr>
            <a:r>
              <a:rPr sz="1350" b="1">
                <a:solidFill>
                  <a:srgbClr val="FF8080"/>
                </a:solidFill>
              </a:rPr>
              <a:t>HIGH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BB5986-45B0-4471-8133-16EA96BE682B}"/>
              </a:ext>
            </a:extLst>
          </p:cNvPr>
          <p:cNvSpPr>
            <a:spLocks noGrp="1"/>
          </p:cNvSpPr>
          <p:nvPr/>
        </p:nvSpPr>
        <p:spPr>
          <a:xfrm>
            <a:off x="685800" y="5559834"/>
            <a:ext cx="5715000" cy="7647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72D5C4"/>
                </a:solidFill>
              </a:defRPr>
            </a:pPr>
            <a:r>
              <a:rPr lang="en-IN" sz="1200" b="1" dirty="0">
                <a:solidFill>
                  <a:schemeClr val="bg1"/>
                </a:solidFill>
              </a:rPr>
              <a:t>Submitted By:</a:t>
            </a:r>
          </a:p>
          <a:p>
            <a:pPr algn="l">
              <a:defRPr sz="1200" b="1">
                <a:solidFill>
                  <a:srgbClr val="72D5C4"/>
                </a:solidFill>
              </a:defRPr>
            </a:pPr>
            <a:endParaRPr lang="en-IN" sz="1200" b="1" dirty="0">
              <a:solidFill>
                <a:schemeClr val="bg1"/>
              </a:solidFill>
            </a:endParaRPr>
          </a:p>
          <a:p>
            <a:pPr algn="l">
              <a:defRPr sz="1200" b="1">
                <a:solidFill>
                  <a:srgbClr val="72D5C4"/>
                </a:solidFill>
              </a:defRPr>
            </a:pPr>
            <a:r>
              <a:rPr lang="en-IN" sz="1200" b="1" dirty="0">
                <a:solidFill>
                  <a:schemeClr val="bg1"/>
                </a:solidFill>
              </a:rPr>
              <a:t>Angel Proshia F</a:t>
            </a:r>
          </a:p>
        </p:txBody>
      </p:sp>
    </p:spTree>
    <p:extLst>
      <p:ext uri="{BB962C8B-B14F-4D97-AF65-F5344CB8AC3E}">
        <p14:creationId xmlns:p14="http://schemas.microsoft.com/office/powerpoint/2010/main" val="572508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45813C-20B6-4CDA-83C3-3123054ACC18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269DE9-DF86-4EBE-842A-C96985A2F3AE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One platform connects evidence, scoring and explanation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B5232A-E7C6-45D6-A330-9403D98E0F6A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1FF8B0-94E3-486F-A591-84890BA135D5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8A0D58-949B-461E-818B-156AA165C5AF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41910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6DE00A-E0C4-45A3-A212-AD316F724053}"/>
              </a:ext>
            </a:extLst>
          </p:cNvPr>
          <p:cNvSpPr>
            <a:spLocks noGrp="1"/>
          </p:cNvSpPr>
          <p:nvPr/>
        </p:nvSpPr>
        <p:spPr>
          <a:xfrm>
            <a:off x="857250" y="1866900"/>
            <a:ext cx="228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981AC-DE8B-4D10-9DAB-29E54BAF1EE7}"/>
              </a:ext>
            </a:extLst>
          </p:cNvPr>
          <p:cNvSpPr>
            <a:spLocks noGrp="1"/>
          </p:cNvSpPr>
          <p:nvPr/>
        </p:nvSpPr>
        <p:spPr>
          <a:xfrm>
            <a:off x="1381125" y="180975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71A2D"/>
                </a:solidFill>
              </a:defRPr>
            </a:pPr>
            <a:r>
              <a:rPr sz="1800" b="1">
                <a:solidFill>
                  <a:srgbClr val="071A2D"/>
                </a:solidFill>
              </a:rPr>
              <a:t>Understand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22BDF3-B27E-43C3-B578-07DB6C12D8F8}"/>
              </a:ext>
            </a:extLst>
          </p:cNvPr>
          <p:cNvSpPr>
            <a:spLocks noGrp="1"/>
          </p:cNvSpPr>
          <p:nvPr/>
        </p:nvSpPr>
        <p:spPr>
          <a:xfrm>
            <a:off x="3238500" y="18097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D6B7A"/>
                </a:solidFill>
              </a:defRPr>
            </a:pPr>
            <a:r>
              <a:rPr sz="1500" b="0">
                <a:solidFill>
                  <a:srgbClr val="5D6B7A"/>
                </a:solidFill>
              </a:rPr>
              <a:t>Quality, distributions and business patterns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7E59D43-6333-439B-B849-DF4A656C62C6}"/>
              </a:ext>
            </a:extLst>
          </p:cNvPr>
          <p:cNvSpPr>
            <a:spLocks noGrp="1"/>
          </p:cNvSpPr>
          <p:nvPr/>
        </p:nvSpPr>
        <p:spPr>
          <a:xfrm>
            <a:off x="762000" y="2781300"/>
            <a:ext cx="41910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34210D-188F-4228-81B8-6CEB59EE9A42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28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43AA6D-055C-4DB8-A9E1-F518AC6B815D}"/>
              </a:ext>
            </a:extLst>
          </p:cNvPr>
          <p:cNvSpPr>
            <a:spLocks noGrp="1"/>
          </p:cNvSpPr>
          <p:nvPr/>
        </p:nvSpPr>
        <p:spPr>
          <a:xfrm>
            <a:off x="1381125" y="27813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71A2D"/>
                </a:solidFill>
              </a:defRPr>
            </a:pPr>
            <a:r>
              <a:rPr sz="1800" b="1">
                <a:solidFill>
                  <a:srgbClr val="071A2D"/>
                </a:solidFill>
              </a:rPr>
              <a:t>Predict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CAF569-8A70-469C-8CD1-5F47F2278859}"/>
              </a:ext>
            </a:extLst>
          </p:cNvPr>
          <p:cNvSpPr>
            <a:spLocks noGrp="1"/>
          </p:cNvSpPr>
          <p:nvPr/>
        </p:nvSpPr>
        <p:spPr>
          <a:xfrm>
            <a:off x="3238500" y="27813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D6B7A"/>
                </a:solidFill>
              </a:defRPr>
            </a:pPr>
            <a:r>
              <a:rPr sz="1500" b="0">
                <a:solidFill>
                  <a:srgbClr val="5D6B7A"/>
                </a:solidFill>
              </a:rPr>
              <a:t>Default probability, score and risk band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409752A-6679-4885-96AA-DFC0FAC3D205}"/>
              </a:ext>
            </a:extLst>
          </p:cNvPr>
          <p:cNvSpPr>
            <a:spLocks noGrp="1"/>
          </p:cNvSpPr>
          <p:nvPr/>
        </p:nvSpPr>
        <p:spPr>
          <a:xfrm>
            <a:off x="762000" y="3752850"/>
            <a:ext cx="41910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751C1E-74CC-434F-84FC-000B5A3725B9}"/>
              </a:ext>
            </a:extLst>
          </p:cNvPr>
          <p:cNvSpPr>
            <a:spLocks noGrp="1"/>
          </p:cNvSpPr>
          <p:nvPr/>
        </p:nvSpPr>
        <p:spPr>
          <a:xfrm>
            <a:off x="857250" y="3810000"/>
            <a:ext cx="228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B6D9A7-4C90-4749-8820-773C96CCDDA9}"/>
              </a:ext>
            </a:extLst>
          </p:cNvPr>
          <p:cNvSpPr>
            <a:spLocks noGrp="1"/>
          </p:cNvSpPr>
          <p:nvPr/>
        </p:nvSpPr>
        <p:spPr>
          <a:xfrm>
            <a:off x="1381125" y="375285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71A2D"/>
                </a:solidFill>
              </a:defRPr>
            </a:pPr>
            <a:r>
              <a:rPr sz="1800" b="1">
                <a:solidFill>
                  <a:srgbClr val="071A2D"/>
                </a:solidFill>
              </a:rPr>
              <a:t>Explain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CB04AD-2FAA-4E88-A312-245BA4F55882}"/>
              </a:ext>
            </a:extLst>
          </p:cNvPr>
          <p:cNvSpPr>
            <a:spLocks noGrp="1"/>
          </p:cNvSpPr>
          <p:nvPr/>
        </p:nvSpPr>
        <p:spPr>
          <a:xfrm>
            <a:off x="3238500" y="37528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D6B7A"/>
                </a:solidFill>
              </a:defRPr>
            </a:pPr>
            <a:r>
              <a:rPr sz="1500" b="0">
                <a:solidFill>
                  <a:srgbClr val="5D6B7A"/>
                </a:solidFill>
              </a:rPr>
              <a:t>Local drivers and readable surrogate rules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5A92D2E-CAEB-49A8-887B-76FCCA3BEA52}"/>
              </a:ext>
            </a:extLst>
          </p:cNvPr>
          <p:cNvSpPr>
            <a:spLocks noGrp="1"/>
          </p:cNvSpPr>
          <p:nvPr/>
        </p:nvSpPr>
        <p:spPr>
          <a:xfrm>
            <a:off x="762000" y="4724400"/>
            <a:ext cx="41910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F4A3CA-6E81-4847-8786-23FF97203AA8}"/>
              </a:ext>
            </a:extLst>
          </p:cNvPr>
          <p:cNvSpPr>
            <a:spLocks noGrp="1"/>
          </p:cNvSpPr>
          <p:nvPr/>
        </p:nvSpPr>
        <p:spPr>
          <a:xfrm>
            <a:off x="857250" y="4781550"/>
            <a:ext cx="228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154482-F0DC-4C34-827B-4C8971E0FF38}"/>
              </a:ext>
            </a:extLst>
          </p:cNvPr>
          <p:cNvSpPr>
            <a:spLocks noGrp="1"/>
          </p:cNvSpPr>
          <p:nvPr/>
        </p:nvSpPr>
        <p:spPr>
          <a:xfrm>
            <a:off x="1381125" y="47244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71A2D"/>
                </a:solidFill>
              </a:defRPr>
            </a:pPr>
            <a:r>
              <a:rPr sz="1800" b="1">
                <a:solidFill>
                  <a:srgbClr val="071A2D"/>
                </a:solidFill>
              </a:rPr>
              <a:t>Explore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1661CD-521A-436F-9030-5E811F7ED4A1}"/>
              </a:ext>
            </a:extLst>
          </p:cNvPr>
          <p:cNvSpPr>
            <a:spLocks noGrp="1"/>
          </p:cNvSpPr>
          <p:nvPr/>
        </p:nvSpPr>
        <p:spPr>
          <a:xfrm>
            <a:off x="3238500" y="47244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D6B7A"/>
                </a:solidFill>
              </a:defRPr>
            </a:pPr>
            <a:r>
              <a:rPr sz="1500" b="0">
                <a:solidFill>
                  <a:srgbClr val="5D6B7A"/>
                </a:solidFill>
              </a:rPr>
              <a:t>Natural language to validated SQL</a:t>
            </a:r>
          </a:p>
        </p:txBody>
      </p:sp>
    </p:spTree>
    <p:extLst>
      <p:ext uri="{BB962C8B-B14F-4D97-AF65-F5344CB8AC3E}">
        <p14:creationId xmlns:p14="http://schemas.microsoft.com/office/powerpoint/2010/main" val="66037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203987F-16F0-4038-B0F1-1FEB4FF66332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30BAA7-6FA2-4967-9E3E-5CD52A3B1ABC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The architecture keeps every decision traceable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3CCA06-B751-42F1-B1CB-15886DF916F9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E40E0A-4AF2-4A76-8CCA-193812AA7A7A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170E4E-B5BC-47CA-8639-E3E9A8019325}"/>
              </a:ext>
            </a:extLst>
          </p:cNvPr>
          <p:cNvSpPr>
            <a:spLocks noGrp="1"/>
          </p:cNvSpPr>
          <p:nvPr/>
        </p:nvSpPr>
        <p:spPr>
          <a:xfrm>
            <a:off x="2476500" y="2819400"/>
            <a:ext cx="428625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EF438A-C228-4BFE-B608-813BC9C7661F}"/>
              </a:ext>
            </a:extLst>
          </p:cNvPr>
          <p:cNvSpPr>
            <a:spLocks noGrp="1"/>
          </p:cNvSpPr>
          <p:nvPr/>
        </p:nvSpPr>
        <p:spPr>
          <a:xfrm>
            <a:off x="4619625" y="2819400"/>
            <a:ext cx="428625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711140-D07B-435F-AD73-D02D51873A0D}"/>
              </a:ext>
            </a:extLst>
          </p:cNvPr>
          <p:cNvSpPr>
            <a:spLocks noGrp="1"/>
          </p:cNvSpPr>
          <p:nvPr/>
        </p:nvSpPr>
        <p:spPr>
          <a:xfrm>
            <a:off x="6762750" y="2819400"/>
            <a:ext cx="428625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7B9477-0B3B-49F1-908B-45B4D4BA9F45}"/>
              </a:ext>
            </a:extLst>
          </p:cNvPr>
          <p:cNvSpPr>
            <a:spLocks noGrp="1"/>
          </p:cNvSpPr>
          <p:nvPr/>
        </p:nvSpPr>
        <p:spPr>
          <a:xfrm>
            <a:off x="8905875" y="2819400"/>
            <a:ext cx="428625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2569717-2608-4211-A1A8-C4537B9D32BC}"/>
              </a:ext>
            </a:extLst>
          </p:cNvPr>
          <p:cNvSpPr>
            <a:spLocks noGrp="1"/>
          </p:cNvSpPr>
          <p:nvPr/>
        </p:nvSpPr>
        <p:spPr>
          <a:xfrm>
            <a:off x="762000" y="2381250"/>
            <a:ext cx="171450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855970-D8B6-492C-A00A-056D5A68BC65}"/>
              </a:ext>
            </a:extLst>
          </p:cNvPr>
          <p:cNvSpPr>
            <a:spLocks noGrp="1"/>
          </p:cNvSpPr>
          <p:nvPr/>
        </p:nvSpPr>
        <p:spPr>
          <a:xfrm>
            <a:off x="895350" y="2667000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Home Credit CSV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067A05-C34B-413A-A59A-A50E496B64D3}"/>
              </a:ext>
            </a:extLst>
          </p:cNvPr>
          <p:cNvSpPr>
            <a:spLocks noGrp="1"/>
          </p:cNvSpPr>
          <p:nvPr/>
        </p:nvSpPr>
        <p:spPr>
          <a:xfrm>
            <a:off x="2905125" y="2381250"/>
            <a:ext cx="171450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FA2061-2567-4427-A2AA-A8425207469F}"/>
              </a:ext>
            </a:extLst>
          </p:cNvPr>
          <p:cNvSpPr>
            <a:spLocks noGrp="1"/>
          </p:cNvSpPr>
          <p:nvPr/>
        </p:nvSpPr>
        <p:spPr>
          <a:xfrm>
            <a:off x="3038475" y="2667000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Preprocessing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9B0B00-5D49-48FE-A7FF-5162305FA8E3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714500" cy="952500"/>
          </a:xfrm>
          <a:prstGeom prst="roundRect">
            <a:avLst>
              <a:gd name="adj" fmla="val 12000"/>
            </a:avLst>
          </a:prstGeom>
          <a:solidFill>
            <a:srgbClr val="DFF5F0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10B7E7-B005-47BA-AA2C-5A06AF420D67}"/>
              </a:ext>
            </a:extLst>
          </p:cNvPr>
          <p:cNvSpPr>
            <a:spLocks noGrp="1"/>
          </p:cNvSpPr>
          <p:nvPr/>
        </p:nvSpPr>
        <p:spPr>
          <a:xfrm>
            <a:off x="5181600" y="2667000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Risk model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DA2A70D-8DB5-4AFA-A051-6341D01BA749}"/>
              </a:ext>
            </a:extLst>
          </p:cNvPr>
          <p:cNvSpPr>
            <a:spLocks noGrp="1"/>
          </p:cNvSpPr>
          <p:nvPr/>
        </p:nvSpPr>
        <p:spPr>
          <a:xfrm>
            <a:off x="7191375" y="2381250"/>
            <a:ext cx="171450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C6F06D-000C-4647-B342-E056BEC634F1}"/>
              </a:ext>
            </a:extLst>
          </p:cNvPr>
          <p:cNvSpPr>
            <a:spLocks noGrp="1"/>
          </p:cNvSpPr>
          <p:nvPr/>
        </p:nvSpPr>
        <p:spPr>
          <a:xfrm>
            <a:off x="7324725" y="2667000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Explanations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A1604C-BB5B-4505-9B99-7E27AB2953FC}"/>
              </a:ext>
            </a:extLst>
          </p:cNvPr>
          <p:cNvSpPr>
            <a:spLocks noGrp="1"/>
          </p:cNvSpPr>
          <p:nvPr/>
        </p:nvSpPr>
        <p:spPr>
          <a:xfrm>
            <a:off x="9334500" y="2381250"/>
            <a:ext cx="171450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488637-FB25-4CDD-BD0D-22B61946F68E}"/>
              </a:ext>
            </a:extLst>
          </p:cNvPr>
          <p:cNvSpPr>
            <a:spLocks noGrp="1"/>
          </p:cNvSpPr>
          <p:nvPr/>
        </p:nvSpPr>
        <p:spPr>
          <a:xfrm>
            <a:off x="9467850" y="2667000"/>
            <a:ext cx="1447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Streamlit UI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E261F4-5951-49F7-B730-2875B48CFADC}"/>
              </a:ext>
            </a:extLst>
          </p:cNvPr>
          <p:cNvSpPr>
            <a:spLocks noGrp="1"/>
          </p:cNvSpPr>
          <p:nvPr/>
        </p:nvSpPr>
        <p:spPr>
          <a:xfrm>
            <a:off x="1123950" y="4238625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Business question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38B0E4-A480-43B5-A1AC-4970F896D2AC}"/>
              </a:ext>
            </a:extLst>
          </p:cNvPr>
          <p:cNvSpPr>
            <a:spLocks noGrp="1"/>
          </p:cNvSpPr>
          <p:nvPr/>
        </p:nvSpPr>
        <p:spPr>
          <a:xfrm>
            <a:off x="3743325" y="423862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Gemini / 5 fallbacks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7F9DBA-AC92-4125-BB21-6932DB0DBAC0}"/>
              </a:ext>
            </a:extLst>
          </p:cNvPr>
          <p:cNvSpPr>
            <a:spLocks noGrp="1"/>
          </p:cNvSpPr>
          <p:nvPr/>
        </p:nvSpPr>
        <p:spPr>
          <a:xfrm>
            <a:off x="6572250" y="423862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SQL guard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7EC223-718F-4E00-95B2-FD8AE355A599}"/>
              </a:ext>
            </a:extLst>
          </p:cNvPr>
          <p:cNvSpPr>
            <a:spLocks noGrp="1"/>
          </p:cNvSpPr>
          <p:nvPr/>
        </p:nvSpPr>
        <p:spPr>
          <a:xfrm>
            <a:off x="9239250" y="4238625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DuckDB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0C1F9B-4A80-4B88-B7DD-80071B3F34ED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6477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8A2DBBB-A991-4B9C-AF5D-A61F77AE2FF8}"/>
              </a:ext>
            </a:extLst>
          </p:cNvPr>
          <p:cNvSpPr>
            <a:spLocks noGrp="1"/>
          </p:cNvSpPr>
          <p:nvPr/>
        </p:nvSpPr>
        <p:spPr>
          <a:xfrm>
            <a:off x="5857875" y="4362450"/>
            <a:ext cx="6477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17FDBF-E3B3-437E-AB3C-4A94516C9FF6}"/>
              </a:ext>
            </a:extLst>
          </p:cNvPr>
          <p:cNvSpPr>
            <a:spLocks noGrp="1"/>
          </p:cNvSpPr>
          <p:nvPr/>
        </p:nvSpPr>
        <p:spPr>
          <a:xfrm>
            <a:off x="8020050" y="4362450"/>
            <a:ext cx="647700" cy="3810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56C74D-C931-4500-93FB-B54F5CACA4F0}"/>
              </a:ext>
            </a:extLst>
          </p:cNvPr>
          <p:cNvSpPr>
            <a:spLocks noGrp="1"/>
          </p:cNvSpPr>
          <p:nvPr/>
        </p:nvSpPr>
        <p:spPr>
          <a:xfrm>
            <a:off x="2857500" y="5381625"/>
            <a:ext cx="647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One SELECT · table whitelist · mutation blocking · row limit</a:t>
            </a:r>
          </a:p>
        </p:txBody>
      </p:sp>
    </p:spTree>
    <p:extLst>
      <p:ext uri="{BB962C8B-B14F-4D97-AF65-F5344CB8AC3E}">
        <p14:creationId xmlns:p14="http://schemas.microsoft.com/office/powerpoint/2010/main" val="843873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4850EE5-F107-4AD5-9344-57AC0E6FA08E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5462C1-5212-467B-A4AA-3FA3F703DBF4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EDA turns data quality into five lending questions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FE8277-FBCE-4B57-8F95-0A888E1A39B3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D180E1-DE7B-45E1-B6E3-5262C246375E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04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2D17CC-9632-4820-8BBC-40DDF4370697}"/>
              </a:ext>
            </a:extLst>
          </p:cNvPr>
          <p:cNvSpPr>
            <a:spLocks noGrp="1"/>
          </p:cNvSpPr>
          <p:nvPr/>
        </p:nvSpPr>
        <p:spPr>
          <a:xfrm>
            <a:off x="714375" y="2000250"/>
            <a:ext cx="3286125" cy="1219200"/>
          </a:xfrm>
          <a:prstGeom prst="roundRect">
            <a:avLst>
              <a:gd name="adj" fmla="val 9375"/>
            </a:avLst>
          </a:prstGeom>
          <a:solidFill>
            <a:srgbClr val="DFF5F0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82AE2-7F4C-4C30-BE03-5E6608DAE813}"/>
              </a:ext>
            </a:extLst>
          </p:cNvPr>
          <p:cNvSpPr>
            <a:spLocks noGrp="1"/>
          </p:cNvSpPr>
          <p:nvPr/>
        </p:nvSpPr>
        <p:spPr>
          <a:xfrm>
            <a:off x="885825" y="21717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7F7644-C2E5-44C2-8C09-E2B18F2D3F64}"/>
              </a:ext>
            </a:extLst>
          </p:cNvPr>
          <p:cNvSpPr>
            <a:spLocks noGrp="1"/>
          </p:cNvSpPr>
          <p:nvPr/>
        </p:nvSpPr>
        <p:spPr>
          <a:xfrm>
            <a:off x="1285875" y="2209800"/>
            <a:ext cx="25241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Do external scores separate defaults?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EF77688-6E22-4ED7-85BB-5B9AC809FB9D}"/>
              </a:ext>
            </a:extLst>
          </p:cNvPr>
          <p:cNvSpPr>
            <a:spLocks noGrp="1"/>
          </p:cNvSpPr>
          <p:nvPr/>
        </p:nvSpPr>
        <p:spPr>
          <a:xfrm>
            <a:off x="4333875" y="2000250"/>
            <a:ext cx="3286125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733A67-10EC-465C-9945-F3EDEF0AFDBA}"/>
              </a:ext>
            </a:extLst>
          </p:cNvPr>
          <p:cNvSpPr>
            <a:spLocks noGrp="1"/>
          </p:cNvSpPr>
          <p:nvPr/>
        </p:nvSpPr>
        <p:spPr>
          <a:xfrm>
            <a:off x="4505325" y="21717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960D6F-0A07-4B20-B586-B38006971CAF}"/>
              </a:ext>
            </a:extLst>
          </p:cNvPr>
          <p:cNvSpPr>
            <a:spLocks noGrp="1"/>
          </p:cNvSpPr>
          <p:nvPr/>
        </p:nvSpPr>
        <p:spPr>
          <a:xfrm>
            <a:off x="4905375" y="2209800"/>
            <a:ext cx="25241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Which income groups carry higher risk?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B519C3-D121-4C02-B915-02D79FE70519}"/>
              </a:ext>
            </a:extLst>
          </p:cNvPr>
          <p:cNvSpPr>
            <a:spLocks noGrp="1"/>
          </p:cNvSpPr>
          <p:nvPr/>
        </p:nvSpPr>
        <p:spPr>
          <a:xfrm>
            <a:off x="7953375" y="2000250"/>
            <a:ext cx="3286125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905EA6-6AE9-4B5B-90E7-F63F22587461}"/>
              </a:ext>
            </a:extLst>
          </p:cNvPr>
          <p:cNvSpPr>
            <a:spLocks noGrp="1"/>
          </p:cNvSpPr>
          <p:nvPr/>
        </p:nvSpPr>
        <p:spPr>
          <a:xfrm>
            <a:off x="8124825" y="21717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F04257-BD44-4ABA-9DE9-5C610D60D643}"/>
              </a:ext>
            </a:extLst>
          </p:cNvPr>
          <p:cNvSpPr>
            <a:spLocks noGrp="1"/>
          </p:cNvSpPr>
          <p:nvPr/>
        </p:nvSpPr>
        <p:spPr>
          <a:xfrm>
            <a:off x="8524875" y="2209800"/>
            <a:ext cx="25241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Where does credit exceed affordable income?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31E01A5-CDA4-43E0-8FBE-A6BF000C04DD}"/>
              </a:ext>
            </a:extLst>
          </p:cNvPr>
          <p:cNvSpPr>
            <a:spLocks noGrp="1"/>
          </p:cNvSpPr>
          <p:nvPr/>
        </p:nvSpPr>
        <p:spPr>
          <a:xfrm>
            <a:off x="2524125" y="3905250"/>
            <a:ext cx="3762375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CEC9C5-96C2-4489-AE92-C8E2A98142BD}"/>
              </a:ext>
            </a:extLst>
          </p:cNvPr>
          <p:cNvSpPr>
            <a:spLocks noGrp="1"/>
          </p:cNvSpPr>
          <p:nvPr/>
        </p:nvSpPr>
        <p:spPr>
          <a:xfrm>
            <a:off x="2695575" y="40767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88EC42-E14C-4C39-9C71-773C9B713CD2}"/>
              </a:ext>
            </a:extLst>
          </p:cNvPr>
          <p:cNvSpPr>
            <a:spLocks noGrp="1"/>
          </p:cNvSpPr>
          <p:nvPr/>
        </p:nvSpPr>
        <p:spPr>
          <a:xfrm>
            <a:off x="3095625" y="4114800"/>
            <a:ext cx="30003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How do age and employment stability matter?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67D07CB-7287-4C34-B5F6-7D02D9365A25}"/>
              </a:ext>
            </a:extLst>
          </p:cNvPr>
          <p:cNvSpPr>
            <a:spLocks noGrp="1"/>
          </p:cNvSpPr>
          <p:nvPr/>
        </p:nvSpPr>
        <p:spPr>
          <a:xfrm>
            <a:off x="6619875" y="3905250"/>
            <a:ext cx="3762375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024C95-7F70-4518-AA47-519CA7EAF6F3}"/>
              </a:ext>
            </a:extLst>
          </p:cNvPr>
          <p:cNvSpPr>
            <a:spLocks noGrp="1"/>
          </p:cNvSpPr>
          <p:nvPr/>
        </p:nvSpPr>
        <p:spPr>
          <a:xfrm>
            <a:off x="6791325" y="4076700"/>
            <a:ext cx="323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0B1C9A8-B7A1-4226-A8EF-A27127F93CC2}"/>
              </a:ext>
            </a:extLst>
          </p:cNvPr>
          <p:cNvSpPr>
            <a:spLocks noGrp="1"/>
          </p:cNvSpPr>
          <p:nvPr/>
        </p:nvSpPr>
        <p:spPr>
          <a:xfrm>
            <a:off x="7191375" y="4114800"/>
            <a:ext cx="300037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71A2D"/>
                </a:solidFill>
              </a:defRPr>
            </a:pPr>
            <a:r>
              <a:rPr sz="1500" b="1">
                <a:solidFill>
                  <a:srgbClr val="071A2D"/>
                </a:solidFill>
              </a:rPr>
              <a:t>Can missingness reveal process weakness?</a:t>
            </a:r>
          </a:p>
        </p:txBody>
      </p:sp>
    </p:spTree>
    <p:extLst>
      <p:ext uri="{BB962C8B-B14F-4D97-AF65-F5344CB8AC3E}">
        <p14:creationId xmlns:p14="http://schemas.microsoft.com/office/powerpoint/2010/main" val="1678221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A9D820C-D88F-4DF9-8394-6C8A3096BF7A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E23B26-C6DD-4D8C-9730-3032E2FC5A3D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A transparent baseline handles imbalance deliberately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56B396-CFA6-4FE6-A2EF-E231B9CA7460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B4D00F-E752-413B-B35B-C96A5AD4D465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05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695D04E-F127-455A-88A7-BE5BFDDC6CA1}"/>
              </a:ext>
            </a:extLst>
          </p:cNvPr>
          <p:cNvSpPr>
            <a:spLocks noGrp="1"/>
          </p:cNvSpPr>
          <p:nvPr/>
        </p:nvSpPr>
        <p:spPr>
          <a:xfrm>
            <a:off x="762000" y="1952625"/>
            <a:ext cx="1571625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197D51-85C6-4BF3-87A2-D63919867D6F}"/>
              </a:ext>
            </a:extLst>
          </p:cNvPr>
          <p:cNvSpPr>
            <a:spLocks noGrp="1"/>
          </p:cNvSpPr>
          <p:nvPr/>
        </p:nvSpPr>
        <p:spPr>
          <a:xfrm>
            <a:off x="857250" y="2009775"/>
            <a:ext cx="1381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Split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32F320-8C2B-4138-82F1-CC37FF88C96B}"/>
              </a:ext>
            </a:extLst>
          </p:cNvPr>
          <p:cNvSpPr>
            <a:spLocks noGrp="1"/>
          </p:cNvSpPr>
          <p:nvPr/>
        </p:nvSpPr>
        <p:spPr>
          <a:xfrm>
            <a:off x="2571750" y="1990725"/>
            <a:ext cx="4905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32238"/>
                </a:solidFill>
              </a:defRPr>
            </a:pPr>
            <a:r>
              <a:rPr sz="1575" b="0">
                <a:solidFill>
                  <a:srgbClr val="132238"/>
                </a:solidFill>
              </a:rPr>
              <a:t>80/20 stratified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FD11AAA-A2FA-485D-8158-2055A174E0C7}"/>
              </a:ext>
            </a:extLst>
          </p:cNvPr>
          <p:cNvSpPr>
            <a:spLocks noGrp="1"/>
          </p:cNvSpPr>
          <p:nvPr/>
        </p:nvSpPr>
        <p:spPr>
          <a:xfrm>
            <a:off x="762000" y="2828925"/>
            <a:ext cx="1571625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37B9D0-E103-46B3-AB4A-601D36D4C682}"/>
              </a:ext>
            </a:extLst>
          </p:cNvPr>
          <p:cNvSpPr>
            <a:spLocks noGrp="1"/>
          </p:cNvSpPr>
          <p:nvPr/>
        </p:nvSpPr>
        <p:spPr>
          <a:xfrm>
            <a:off x="857250" y="2886075"/>
            <a:ext cx="1381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Prepare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6944C1-B616-4DF3-BDE9-2EA47D950F5E}"/>
              </a:ext>
            </a:extLst>
          </p:cNvPr>
          <p:cNvSpPr>
            <a:spLocks noGrp="1"/>
          </p:cNvSpPr>
          <p:nvPr/>
        </p:nvSpPr>
        <p:spPr>
          <a:xfrm>
            <a:off x="2571750" y="2867025"/>
            <a:ext cx="4905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32238"/>
                </a:solidFill>
              </a:defRPr>
            </a:pPr>
            <a:r>
              <a:rPr sz="1575" b="0">
                <a:solidFill>
                  <a:srgbClr val="132238"/>
                </a:solidFill>
              </a:rPr>
              <a:t>Impute · scale · encode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2F28B19-6FCD-4C29-9023-B01F86755258}"/>
              </a:ext>
            </a:extLst>
          </p:cNvPr>
          <p:cNvSpPr>
            <a:spLocks noGrp="1"/>
          </p:cNvSpPr>
          <p:nvPr/>
        </p:nvSpPr>
        <p:spPr>
          <a:xfrm>
            <a:off x="762000" y="3705225"/>
            <a:ext cx="1571625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E140C-DE41-4B33-A30B-BF03EFDC99CC}"/>
              </a:ext>
            </a:extLst>
          </p:cNvPr>
          <p:cNvSpPr>
            <a:spLocks noGrp="1"/>
          </p:cNvSpPr>
          <p:nvPr/>
        </p:nvSpPr>
        <p:spPr>
          <a:xfrm>
            <a:off x="857250" y="3762375"/>
            <a:ext cx="1381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Learn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89ED9F-387E-4873-9AF1-784DCF71C0C5}"/>
              </a:ext>
            </a:extLst>
          </p:cNvPr>
          <p:cNvSpPr>
            <a:spLocks noGrp="1"/>
          </p:cNvSpPr>
          <p:nvPr/>
        </p:nvSpPr>
        <p:spPr>
          <a:xfrm>
            <a:off x="2571750" y="3743325"/>
            <a:ext cx="4905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32238"/>
                </a:solidFill>
              </a:defRPr>
            </a:pPr>
            <a:r>
              <a:rPr sz="1575" b="1">
                <a:solidFill>
                  <a:srgbClr val="132238"/>
                </a:solidFill>
              </a:rPr>
              <a:t>Class-weighted logistic regression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F0612C5-F0A8-4A9C-931A-01E974011026}"/>
              </a:ext>
            </a:extLst>
          </p:cNvPr>
          <p:cNvSpPr>
            <a:spLocks noGrp="1"/>
          </p:cNvSpPr>
          <p:nvPr/>
        </p:nvSpPr>
        <p:spPr>
          <a:xfrm>
            <a:off x="762000" y="4581525"/>
            <a:ext cx="1571625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28F7E3-CC08-4B02-B52F-A940649490E1}"/>
              </a:ext>
            </a:extLst>
          </p:cNvPr>
          <p:cNvSpPr>
            <a:spLocks noGrp="1"/>
          </p:cNvSpPr>
          <p:nvPr/>
        </p:nvSpPr>
        <p:spPr>
          <a:xfrm>
            <a:off x="857250" y="4638675"/>
            <a:ext cx="1381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Measure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4A9BFCE-9817-4A0B-BBB0-40B31A7EC8DD}"/>
              </a:ext>
            </a:extLst>
          </p:cNvPr>
          <p:cNvSpPr>
            <a:spLocks noGrp="1"/>
          </p:cNvSpPr>
          <p:nvPr/>
        </p:nvSpPr>
        <p:spPr>
          <a:xfrm>
            <a:off x="2571750" y="4619625"/>
            <a:ext cx="4905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32238"/>
                </a:solidFill>
              </a:defRPr>
            </a:pPr>
            <a:r>
              <a:rPr sz="1575" b="0">
                <a:solidFill>
                  <a:srgbClr val="132238"/>
                </a:solidFill>
              </a:rPr>
              <a:t>ROC-AUC · PR-AUC · confusion matrix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A220E2-936C-4949-9A2D-B1D5FCA65BE5}"/>
              </a:ext>
            </a:extLst>
          </p:cNvPr>
          <p:cNvSpPr>
            <a:spLocks noGrp="1"/>
          </p:cNvSpPr>
          <p:nvPr/>
        </p:nvSpPr>
        <p:spPr>
          <a:xfrm>
            <a:off x="7953375" y="1809750"/>
            <a:ext cx="3143250" cy="3333750"/>
          </a:xfrm>
          <a:prstGeom prst="roundRect">
            <a:avLst>
              <a:gd name="adj" fmla="val 3636"/>
            </a:avLst>
          </a:prstGeom>
          <a:solidFill>
            <a:srgbClr val="071A2D"/>
          </a:solidFill>
          <a:ln w="9525">
            <a:solidFill>
              <a:srgbClr val="071A2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0801F5-F6C6-41D8-A62E-E18A3E728B47}"/>
              </a:ext>
            </a:extLst>
          </p:cNvPr>
          <p:cNvSpPr>
            <a:spLocks noGrp="1"/>
          </p:cNvSpPr>
          <p:nvPr/>
        </p:nvSpPr>
        <p:spPr>
          <a:xfrm>
            <a:off x="8305800" y="2143125"/>
            <a:ext cx="2428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72D5C4"/>
                </a:solidFill>
              </a:defRPr>
            </a:pPr>
            <a:r>
              <a:rPr sz="1125" b="1">
                <a:solidFill>
                  <a:srgbClr val="72D5C4"/>
                </a:solidFill>
              </a:rPr>
              <a:t>WHY THIS BASELINE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145F61-E13D-497E-B4C2-3504600562CD}"/>
              </a:ext>
            </a:extLst>
          </p:cNvPr>
          <p:cNvSpPr>
            <a:spLocks noGrp="1"/>
          </p:cNvSpPr>
          <p:nvPr/>
        </p:nvSpPr>
        <p:spPr>
          <a:xfrm>
            <a:off x="8477250" y="28575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Fast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A6600B-F0C0-49B1-B35B-6B6F1F998A2D}"/>
              </a:ext>
            </a:extLst>
          </p:cNvPr>
          <p:cNvSpPr>
            <a:spLocks noGrp="1"/>
          </p:cNvSpPr>
          <p:nvPr/>
        </p:nvSpPr>
        <p:spPr>
          <a:xfrm>
            <a:off x="8477250" y="347662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Auditable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756F15-9BBE-4E30-AF15-B30410832F81}"/>
              </a:ext>
            </a:extLst>
          </p:cNvPr>
          <p:cNvSpPr>
            <a:spLocks noGrp="1"/>
          </p:cNvSpPr>
          <p:nvPr/>
        </p:nvSpPr>
        <p:spPr>
          <a:xfrm>
            <a:off x="8477250" y="40957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Deployable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22FAFA-F003-4041-936D-63CEE3AFD501}"/>
              </a:ext>
            </a:extLst>
          </p:cNvPr>
          <p:cNvSpPr>
            <a:spLocks noGrp="1"/>
          </p:cNvSpPr>
          <p:nvPr/>
        </p:nvSpPr>
        <p:spPr>
          <a:xfrm>
            <a:off x="762000" y="5667375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0F766E"/>
                </a:solidFill>
              </a:defRPr>
            </a:pPr>
            <a:r>
              <a:rPr sz="1425" b="1">
                <a:solidFill>
                  <a:srgbClr val="0F766E"/>
                </a:solidFill>
              </a:rPr>
              <a:t>Exact metrics are generated after training—never hard-coded.</a:t>
            </a:r>
          </a:p>
        </p:txBody>
      </p:sp>
    </p:spTree>
    <p:extLst>
      <p:ext uri="{BB962C8B-B14F-4D97-AF65-F5344CB8AC3E}">
        <p14:creationId xmlns:p14="http://schemas.microsoft.com/office/powerpoint/2010/main" val="418728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E4E1E6A-9412-4267-9588-1DE7D87009A8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EEBBEB-77BB-4F84-8D4B-045251110823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Every applicant receives probability, score and band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C5603D-E366-4309-92F8-0BA57F756E57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651FB5-A9BD-4151-977F-00750F2934C3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AD07746-5198-49F2-BD7B-EF779AB95567}"/>
              </a:ext>
            </a:extLst>
          </p:cNvPr>
          <p:cNvSpPr>
            <a:spLocks noGrp="1"/>
          </p:cNvSpPr>
          <p:nvPr/>
        </p:nvSpPr>
        <p:spPr>
          <a:xfrm>
            <a:off x="762000" y="2095500"/>
            <a:ext cx="3190875" cy="2238375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AAC793-2711-4A2A-ACDF-565C35B5F50A}"/>
              </a:ext>
            </a:extLst>
          </p:cNvPr>
          <p:cNvSpPr>
            <a:spLocks noGrp="1"/>
          </p:cNvSpPr>
          <p:nvPr/>
        </p:nvSpPr>
        <p:spPr>
          <a:xfrm>
            <a:off x="1028700" y="24288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DEFAULT PROBABILITY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78AE99-56BD-419E-8381-E8B052D1E6FF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2476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71A2D"/>
                </a:solidFill>
              </a:defRPr>
            </a:pPr>
            <a:r>
              <a:rPr sz="1800" b="1">
                <a:solidFill>
                  <a:srgbClr val="071A2D"/>
                </a:solidFill>
              </a:rPr>
              <a:t>Model estimate from 0% to 100%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DC4A38E-BF78-4C1A-86FF-54AED1AA6F81}"/>
              </a:ext>
            </a:extLst>
          </p:cNvPr>
          <p:cNvSpPr>
            <a:spLocks noGrp="1"/>
          </p:cNvSpPr>
          <p:nvPr/>
        </p:nvSpPr>
        <p:spPr>
          <a:xfrm>
            <a:off x="4333875" y="2095500"/>
            <a:ext cx="3190875" cy="2238375"/>
          </a:xfrm>
          <a:prstGeom prst="roundRect">
            <a:avLst>
              <a:gd name="adj" fmla="val 5106"/>
            </a:avLst>
          </a:prstGeom>
          <a:solidFill>
            <a:srgbClr val="DFF5F0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4FE6B5-65B2-4ADE-9A7C-3C00D5691BAA}"/>
              </a:ext>
            </a:extLst>
          </p:cNvPr>
          <p:cNvSpPr>
            <a:spLocks noGrp="1"/>
          </p:cNvSpPr>
          <p:nvPr/>
        </p:nvSpPr>
        <p:spPr>
          <a:xfrm>
            <a:off x="4600575" y="24288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RISK SCORE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423259-8122-471B-9ADB-2B306FB9C74C}"/>
              </a:ext>
            </a:extLst>
          </p:cNvPr>
          <p:cNvSpPr>
            <a:spLocks noGrp="1"/>
          </p:cNvSpPr>
          <p:nvPr/>
        </p:nvSpPr>
        <p:spPr>
          <a:xfrm>
            <a:off x="4695825" y="3143250"/>
            <a:ext cx="2476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71A2D"/>
                </a:solidFill>
              </a:defRPr>
            </a:pPr>
            <a:r>
              <a:rPr sz="1800" b="1">
                <a:solidFill>
                  <a:srgbClr val="071A2D"/>
                </a:solidFill>
              </a:rPr>
              <a:t>Probability translated to 0–1000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B886D76-C3DB-423A-A0E5-8C10FA94BE19}"/>
              </a:ext>
            </a:extLst>
          </p:cNvPr>
          <p:cNvSpPr>
            <a:spLocks noGrp="1"/>
          </p:cNvSpPr>
          <p:nvPr/>
        </p:nvSpPr>
        <p:spPr>
          <a:xfrm>
            <a:off x="7905750" y="2095500"/>
            <a:ext cx="3190875" cy="2238375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480CCD-A24A-4450-8BC0-2DB445FF686F}"/>
              </a:ext>
            </a:extLst>
          </p:cNvPr>
          <p:cNvSpPr>
            <a:spLocks noGrp="1"/>
          </p:cNvSpPr>
          <p:nvPr/>
        </p:nvSpPr>
        <p:spPr>
          <a:xfrm>
            <a:off x="8172450" y="24288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RISK BAND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CE02B7-CC3A-48B9-A664-BF29E71616A7}"/>
              </a:ext>
            </a:extLst>
          </p:cNvPr>
          <p:cNvSpPr>
            <a:spLocks noGrp="1"/>
          </p:cNvSpPr>
          <p:nvPr/>
        </p:nvSpPr>
        <p:spPr>
          <a:xfrm>
            <a:off x="8267700" y="3143250"/>
            <a:ext cx="2476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71A2D"/>
                </a:solidFill>
              </a:defRPr>
            </a:pPr>
            <a:r>
              <a:rPr sz="1800" b="1">
                <a:solidFill>
                  <a:srgbClr val="071A2D"/>
                </a:solidFill>
              </a:rPr>
              <a:t>Low &lt;10% · Medium &lt;25% · High ≥25%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75D70-28DB-4C0A-871A-D7364AF07898}"/>
              </a:ext>
            </a:extLst>
          </p:cNvPr>
          <p:cNvSpPr>
            <a:spLocks noGrp="1"/>
          </p:cNvSpPr>
          <p:nvPr/>
        </p:nvSpPr>
        <p:spPr>
          <a:xfrm>
            <a:off x="1285875" y="5095875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0">
                <a:solidFill>
                  <a:srgbClr val="5D6B7A"/>
                </a:solidFill>
              </a:defRPr>
            </a:pPr>
            <a:r>
              <a:rPr sz="1575" b="0">
                <a:solidFill>
                  <a:srgbClr val="5D6B7A"/>
                </a:solidFill>
              </a:rPr>
              <a:t>Demonstration thresholds must be calibrated to lending loss, approval capacity and policy.</a:t>
            </a:r>
          </a:p>
        </p:txBody>
      </p:sp>
    </p:spTree>
    <p:extLst>
      <p:ext uri="{BB962C8B-B14F-4D97-AF65-F5344CB8AC3E}">
        <p14:creationId xmlns:p14="http://schemas.microsoft.com/office/powerpoint/2010/main" val="1324470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FBF2367-720B-46A5-87E6-401959682258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740C34-B458-47E1-B2CB-0113AF677E89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Explanations support review without claiming causality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3CD606-AB53-4719-8B51-786B8859DCC3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3F6D54-A685-41A4-A246-49018469C76E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07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BDDF7CE-21E6-4280-A7D5-6C2D55D1C905}"/>
              </a:ext>
            </a:extLst>
          </p:cNvPr>
          <p:cNvSpPr>
            <a:spLocks noGrp="1"/>
          </p:cNvSpPr>
          <p:nvPr/>
        </p:nvSpPr>
        <p:spPr>
          <a:xfrm>
            <a:off x="714375" y="1905000"/>
            <a:ext cx="5095874" cy="333375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CE5E8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5C1A43-071F-419D-B782-B8D50670B4CD}"/>
              </a:ext>
            </a:extLst>
          </p:cNvPr>
          <p:cNvSpPr>
            <a:spLocks noGrp="1"/>
          </p:cNvSpPr>
          <p:nvPr/>
        </p:nvSpPr>
        <p:spPr>
          <a:xfrm>
            <a:off x="1047750" y="2190750"/>
            <a:ext cx="409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LOCAL SHAP CONTRIBUTIONS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2765ED-D592-4108-922A-D39FA1D7E04B}"/>
              </a:ext>
            </a:extLst>
          </p:cNvPr>
          <p:cNvSpPr>
            <a:spLocks noGrp="1"/>
          </p:cNvSpPr>
          <p:nvPr/>
        </p:nvSpPr>
        <p:spPr>
          <a:xfrm>
            <a:off x="1047750" y="2781300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EXT_SOURCE_2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12DED9-1CB2-45A9-A1F1-E0D71EE805B7}"/>
              </a:ext>
            </a:extLst>
          </p:cNvPr>
          <p:cNvSpPr>
            <a:spLocks noGrp="1"/>
          </p:cNvSpPr>
          <p:nvPr/>
        </p:nvSpPr>
        <p:spPr>
          <a:xfrm>
            <a:off x="2667000" y="2819400"/>
            <a:ext cx="304800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95D378-DFC7-4F15-97F6-4EB75F21E0A3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AMT_CREDIT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483B1E-ED37-4AE0-91C7-6F7CC6732514}"/>
              </a:ext>
            </a:extLst>
          </p:cNvPr>
          <p:cNvSpPr>
            <a:spLocks noGrp="1"/>
          </p:cNvSpPr>
          <p:nvPr/>
        </p:nvSpPr>
        <p:spPr>
          <a:xfrm>
            <a:off x="2667000" y="3371850"/>
            <a:ext cx="2333625" cy="209550"/>
          </a:xfrm>
          <a:prstGeom prst="rect">
            <a:avLst/>
          </a:prstGeom>
          <a:solidFill>
            <a:srgbClr val="DC2626"/>
          </a:solidFill>
          <a:ln w="0">
            <a:solidFill>
              <a:srgbClr val="DC2626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024B6-96D1-4CC5-8DC3-813C251D74DE}"/>
              </a:ext>
            </a:extLst>
          </p:cNvPr>
          <p:cNvSpPr>
            <a:spLocks noGrp="1"/>
          </p:cNvSpPr>
          <p:nvPr/>
        </p:nvSpPr>
        <p:spPr>
          <a:xfrm>
            <a:off x="1047750" y="3886200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DAYS_EMPLOYED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1658E-7125-4A3C-A28E-6D20CF0F1520}"/>
              </a:ext>
            </a:extLst>
          </p:cNvPr>
          <p:cNvSpPr>
            <a:spLocks noGrp="1"/>
          </p:cNvSpPr>
          <p:nvPr/>
        </p:nvSpPr>
        <p:spPr>
          <a:xfrm>
            <a:off x="2667000" y="3924300"/>
            <a:ext cx="171450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7877C2-95F8-4C90-9B9E-EB067F31B86B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INCOME_TYPE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BD5F5D-4BF5-4733-A2E4-27EF8F7B9948}"/>
              </a:ext>
            </a:extLst>
          </p:cNvPr>
          <p:cNvSpPr>
            <a:spLocks noGrp="1"/>
          </p:cNvSpPr>
          <p:nvPr/>
        </p:nvSpPr>
        <p:spPr>
          <a:xfrm>
            <a:off x="2667000" y="4476750"/>
            <a:ext cx="1285875" cy="209550"/>
          </a:xfrm>
          <a:prstGeom prst="rect">
            <a:avLst/>
          </a:prstGeom>
          <a:solidFill>
            <a:srgbClr val="DC2626"/>
          </a:solidFill>
          <a:ln w="0">
            <a:solidFill>
              <a:srgbClr val="DC2626"/>
            </a:solidFill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5A744D0-EB61-46FE-81DF-0D77769F5B15}"/>
              </a:ext>
            </a:extLst>
          </p:cNvPr>
          <p:cNvSpPr>
            <a:spLocks noGrp="1"/>
          </p:cNvSpPr>
          <p:nvPr/>
        </p:nvSpPr>
        <p:spPr>
          <a:xfrm>
            <a:off x="6096000" y="1905000"/>
            <a:ext cx="5095875" cy="3333750"/>
          </a:xfrm>
          <a:prstGeom prst="roundRect">
            <a:avLst>
              <a:gd name="adj" fmla="val 3429"/>
            </a:avLst>
          </a:prstGeom>
          <a:solidFill>
            <a:srgbClr val="071A2D"/>
          </a:solidFill>
          <a:ln w="9525">
            <a:solidFill>
              <a:srgbClr val="071A2D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6B276F-AAC7-44D1-8D0E-233C748D04D7}"/>
              </a:ext>
            </a:extLst>
          </p:cNvPr>
          <p:cNvSpPr>
            <a:spLocks noGrp="1"/>
          </p:cNvSpPr>
          <p:nvPr/>
        </p:nvSpPr>
        <p:spPr>
          <a:xfrm>
            <a:off x="6477000" y="2238375"/>
            <a:ext cx="419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72D5C4"/>
                </a:solidFill>
              </a:defRPr>
            </a:pPr>
            <a:r>
              <a:rPr sz="1200" b="1">
                <a:solidFill>
                  <a:srgbClr val="72D5C4"/>
                </a:solidFill>
              </a:rPr>
              <a:t>READABLE RULES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27DF07-4E5B-4FA4-97FC-D4B717650F18}"/>
              </a:ext>
            </a:extLst>
          </p:cNvPr>
          <p:cNvSpPr>
            <a:spLocks noGrp="1"/>
          </p:cNvSpPr>
          <p:nvPr/>
        </p:nvSpPr>
        <p:spPr>
          <a:xfrm>
            <a:off x="6477000" y="2857500"/>
            <a:ext cx="4000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A shallow surrogate tree summarizes model behaviour for business review.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EEA02B-7E7B-41E3-AD9E-DE1103B2BF70}"/>
              </a:ext>
            </a:extLst>
          </p:cNvPr>
          <p:cNvSpPr>
            <a:spLocks noGrp="1"/>
          </p:cNvSpPr>
          <p:nvPr/>
        </p:nvSpPr>
        <p:spPr>
          <a:xfrm>
            <a:off x="6477000" y="4095750"/>
            <a:ext cx="4000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B4B4"/>
                </a:solidFill>
              </a:defRPr>
            </a:pPr>
            <a:r>
              <a:rPr sz="1500" b="1">
                <a:solidFill>
                  <a:srgbClr val="FFB4B4"/>
                </a:solidFill>
              </a:rPr>
              <a:t>Not policy. Not causal. Validate before use.</a:t>
            </a:r>
          </a:p>
        </p:txBody>
      </p:sp>
    </p:spTree>
    <p:extLst>
      <p:ext uri="{BB962C8B-B14F-4D97-AF65-F5344CB8AC3E}">
        <p14:creationId xmlns:p14="http://schemas.microsoft.com/office/powerpoint/2010/main" val="1180436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810D2310-F1C6-4A99-84B8-4F61B65641EB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C75FD3-8026-4501-B6B9-0CDBF134AE0A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The chatbot treats generated SQL as untrusted input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0EC464-1CF7-45BB-A3C7-5052F21FA3E5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127375-BA22-431B-80CE-4A82661F4F4E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08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3126E2-6213-43FD-86F8-30A49E9A6FCB}"/>
              </a:ext>
            </a:extLst>
          </p:cNvPr>
          <p:cNvSpPr>
            <a:spLocks noGrp="1"/>
          </p:cNvSpPr>
          <p:nvPr/>
        </p:nvSpPr>
        <p:spPr>
          <a:xfrm>
            <a:off x="1339492" y="1984887"/>
            <a:ext cx="40005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61C415-DE87-4D50-81A1-3015FF24FC1F}"/>
              </a:ext>
            </a:extLst>
          </p:cNvPr>
          <p:cNvSpPr>
            <a:spLocks noGrp="1"/>
          </p:cNvSpPr>
          <p:nvPr/>
        </p:nvSpPr>
        <p:spPr>
          <a:xfrm>
            <a:off x="1430133" y="2028824"/>
            <a:ext cx="209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B89D6D-D2CE-46AC-B0D4-FCECB110773C}"/>
              </a:ext>
            </a:extLst>
          </p:cNvPr>
          <p:cNvSpPr>
            <a:spLocks noGrp="1"/>
          </p:cNvSpPr>
          <p:nvPr/>
        </p:nvSpPr>
        <p:spPr>
          <a:xfrm>
            <a:off x="619125" y="25146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71A2D"/>
                </a:solidFill>
              </a:defRPr>
            </a:pPr>
            <a:r>
              <a:rPr sz="1650" b="1">
                <a:solidFill>
                  <a:srgbClr val="071A2D"/>
                </a:solidFill>
              </a:rPr>
              <a:t>Prompt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0B6793-EAD1-4B90-BC3C-1A2D39935F98}"/>
              </a:ext>
            </a:extLst>
          </p:cNvPr>
          <p:cNvSpPr>
            <a:spLocks noGrp="1"/>
          </p:cNvSpPr>
          <p:nvPr/>
        </p:nvSpPr>
        <p:spPr>
          <a:xfrm>
            <a:off x="695325" y="2952750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5D6B7A"/>
                </a:solidFill>
              </a:defRPr>
            </a:pPr>
            <a:r>
              <a:rPr sz="1275" b="0">
                <a:solidFill>
                  <a:srgbClr val="5D6B7A"/>
                </a:solidFill>
              </a:rPr>
              <a:t>Schema + target definition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3D7F787-13B6-4B2C-9CB1-6F0AB8F00669}"/>
              </a:ext>
            </a:extLst>
          </p:cNvPr>
          <p:cNvSpPr>
            <a:spLocks noGrp="1"/>
          </p:cNvSpPr>
          <p:nvPr/>
        </p:nvSpPr>
        <p:spPr>
          <a:xfrm>
            <a:off x="3567265" y="1971674"/>
            <a:ext cx="40005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57F8C0-B6FB-48EF-A99D-3386479023B9}"/>
              </a:ext>
            </a:extLst>
          </p:cNvPr>
          <p:cNvSpPr>
            <a:spLocks noGrp="1"/>
          </p:cNvSpPr>
          <p:nvPr/>
        </p:nvSpPr>
        <p:spPr>
          <a:xfrm>
            <a:off x="3662515" y="2014997"/>
            <a:ext cx="209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BED6AD-B7F8-47CE-8FBB-8FE877280438}"/>
              </a:ext>
            </a:extLst>
          </p:cNvPr>
          <p:cNvSpPr>
            <a:spLocks noGrp="1"/>
          </p:cNvSpPr>
          <p:nvPr/>
        </p:nvSpPr>
        <p:spPr>
          <a:xfrm>
            <a:off x="2895600" y="25146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71A2D"/>
                </a:solidFill>
              </a:defRPr>
            </a:pPr>
            <a:r>
              <a:rPr sz="1650" b="1" dirty="0">
                <a:solidFill>
                  <a:srgbClr val="071A2D"/>
                </a:solidFill>
              </a:rPr>
              <a:t>Generate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22F613-C007-4336-86C0-E9327D89871F}"/>
              </a:ext>
            </a:extLst>
          </p:cNvPr>
          <p:cNvSpPr>
            <a:spLocks noGrp="1"/>
          </p:cNvSpPr>
          <p:nvPr/>
        </p:nvSpPr>
        <p:spPr>
          <a:xfrm>
            <a:off x="2971800" y="2952750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5D6B7A"/>
                </a:solidFill>
              </a:defRPr>
            </a:pPr>
            <a:r>
              <a:rPr sz="1275" b="0" dirty="0">
                <a:solidFill>
                  <a:srgbClr val="5D6B7A"/>
                </a:solidFill>
              </a:rPr>
              <a:t>Gemini or deterministic pattern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492D03-9C2C-46CD-B0F8-9632949F88C1}"/>
              </a:ext>
            </a:extLst>
          </p:cNvPr>
          <p:cNvSpPr>
            <a:spLocks noGrp="1"/>
          </p:cNvSpPr>
          <p:nvPr/>
        </p:nvSpPr>
        <p:spPr>
          <a:xfrm flipV="1">
            <a:off x="4202829" y="2110740"/>
            <a:ext cx="1412312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AD8405F-B3D2-4647-AA6E-6BA105231584}"/>
              </a:ext>
            </a:extLst>
          </p:cNvPr>
          <p:cNvSpPr>
            <a:spLocks noGrp="1"/>
          </p:cNvSpPr>
          <p:nvPr/>
        </p:nvSpPr>
        <p:spPr>
          <a:xfrm>
            <a:off x="5882608" y="1952625"/>
            <a:ext cx="40005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BD68F0-577F-40B2-AF92-A566E73D8705}"/>
              </a:ext>
            </a:extLst>
          </p:cNvPr>
          <p:cNvSpPr>
            <a:spLocks noGrp="1"/>
          </p:cNvSpPr>
          <p:nvPr/>
        </p:nvSpPr>
        <p:spPr>
          <a:xfrm>
            <a:off x="5973712" y="1994412"/>
            <a:ext cx="209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FA35BC-4FA6-49AE-9054-B6C07595AB83}"/>
              </a:ext>
            </a:extLst>
          </p:cNvPr>
          <p:cNvSpPr>
            <a:spLocks noGrp="1"/>
          </p:cNvSpPr>
          <p:nvPr/>
        </p:nvSpPr>
        <p:spPr>
          <a:xfrm>
            <a:off x="5172075" y="25146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71A2D"/>
                </a:solidFill>
              </a:defRPr>
            </a:pPr>
            <a:r>
              <a:rPr sz="1650" b="1">
                <a:solidFill>
                  <a:srgbClr val="071A2D"/>
                </a:solidFill>
              </a:rPr>
              <a:t>Validate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04CB00-0956-499C-A3AC-56A38C444E3F}"/>
              </a:ext>
            </a:extLst>
          </p:cNvPr>
          <p:cNvSpPr>
            <a:spLocks noGrp="1"/>
          </p:cNvSpPr>
          <p:nvPr/>
        </p:nvSpPr>
        <p:spPr>
          <a:xfrm>
            <a:off x="5248275" y="2952750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5D6B7A"/>
                </a:solidFill>
              </a:defRPr>
            </a:pPr>
            <a:r>
              <a:rPr sz="1275" b="0">
                <a:solidFill>
                  <a:srgbClr val="5D6B7A"/>
                </a:solidFill>
              </a:rPr>
              <a:t>Parse AST · allow SELECT only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F352330-75DE-4777-BD5F-A4C7196A45C1}"/>
              </a:ext>
            </a:extLst>
          </p:cNvPr>
          <p:cNvSpPr>
            <a:spLocks noGrp="1"/>
          </p:cNvSpPr>
          <p:nvPr/>
        </p:nvSpPr>
        <p:spPr>
          <a:xfrm>
            <a:off x="8164307" y="1972290"/>
            <a:ext cx="40005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F024FD-6840-4CF2-866A-54D1B5A2AB6D}"/>
              </a:ext>
            </a:extLst>
          </p:cNvPr>
          <p:cNvSpPr>
            <a:spLocks noGrp="1"/>
          </p:cNvSpPr>
          <p:nvPr/>
        </p:nvSpPr>
        <p:spPr>
          <a:xfrm>
            <a:off x="8254949" y="2019300"/>
            <a:ext cx="209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70A37C-8026-41D9-A63A-FEC02A586939}"/>
              </a:ext>
            </a:extLst>
          </p:cNvPr>
          <p:cNvSpPr>
            <a:spLocks noGrp="1"/>
          </p:cNvSpPr>
          <p:nvPr/>
        </p:nvSpPr>
        <p:spPr>
          <a:xfrm>
            <a:off x="7448550" y="25146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71A2D"/>
                </a:solidFill>
              </a:defRPr>
            </a:pPr>
            <a:r>
              <a:rPr sz="1650" b="1">
                <a:solidFill>
                  <a:srgbClr val="071A2D"/>
                </a:solidFill>
              </a:rPr>
              <a:t>Execute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7496F5-3C22-47BE-BAC4-EF2DA6260AF2}"/>
              </a:ext>
            </a:extLst>
          </p:cNvPr>
          <p:cNvSpPr>
            <a:spLocks noGrp="1"/>
          </p:cNvSpPr>
          <p:nvPr/>
        </p:nvSpPr>
        <p:spPr>
          <a:xfrm>
            <a:off x="7524750" y="2952750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5D6B7A"/>
                </a:solidFill>
              </a:defRPr>
            </a:pPr>
            <a:r>
              <a:rPr sz="1275" b="0">
                <a:solidFill>
                  <a:srgbClr val="5D6B7A"/>
                </a:solidFill>
              </a:rPr>
              <a:t>DuckDB · LIMIT 100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9C60AB8-E2B1-49F9-8750-E5A136804F3F}"/>
              </a:ext>
            </a:extLst>
          </p:cNvPr>
          <p:cNvSpPr>
            <a:spLocks noGrp="1"/>
          </p:cNvSpPr>
          <p:nvPr/>
        </p:nvSpPr>
        <p:spPr>
          <a:xfrm>
            <a:off x="10501005" y="1990725"/>
            <a:ext cx="400050" cy="323850"/>
          </a:xfrm>
          <a:prstGeom prst="roundRect">
            <a:avLst>
              <a:gd name="adj" fmla="val 35294"/>
            </a:avLst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343D45-63B6-40A7-BAB3-660F771F359B}"/>
              </a:ext>
            </a:extLst>
          </p:cNvPr>
          <p:cNvSpPr>
            <a:spLocks noGrp="1"/>
          </p:cNvSpPr>
          <p:nvPr/>
        </p:nvSpPr>
        <p:spPr>
          <a:xfrm>
            <a:off x="10596255" y="2042037"/>
            <a:ext cx="209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BBAD05F-ACBF-445C-8589-2DE89251A780}"/>
              </a:ext>
            </a:extLst>
          </p:cNvPr>
          <p:cNvSpPr>
            <a:spLocks noGrp="1"/>
          </p:cNvSpPr>
          <p:nvPr/>
        </p:nvSpPr>
        <p:spPr>
          <a:xfrm>
            <a:off x="9725025" y="25146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71A2D"/>
                </a:solidFill>
              </a:defRPr>
            </a:pPr>
            <a:r>
              <a:rPr sz="1650" b="1">
                <a:solidFill>
                  <a:srgbClr val="071A2D"/>
                </a:solidFill>
              </a:rPr>
              <a:t>Show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0A20D6-B580-41B0-A563-C79FA6197CC9}"/>
              </a:ext>
            </a:extLst>
          </p:cNvPr>
          <p:cNvSpPr>
            <a:spLocks noGrp="1"/>
          </p:cNvSpPr>
          <p:nvPr/>
        </p:nvSpPr>
        <p:spPr>
          <a:xfrm>
            <a:off x="9801225" y="2952750"/>
            <a:ext cx="1752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5D6B7A"/>
                </a:solidFill>
              </a:defRPr>
            </a:pPr>
            <a:r>
              <a:rPr sz="1275" b="0">
                <a:solidFill>
                  <a:srgbClr val="5D6B7A"/>
                </a:solidFill>
              </a:rPr>
              <a:t>Result table + exact SQL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0968DA-4AB5-44D9-95AF-1977AD0A3A1C}"/>
              </a:ext>
            </a:extLst>
          </p:cNvPr>
          <p:cNvSpPr>
            <a:spLocks noGrp="1"/>
          </p:cNvSpPr>
          <p:nvPr/>
        </p:nvSpPr>
        <p:spPr>
          <a:xfrm>
            <a:off x="2238375" y="4857750"/>
            <a:ext cx="7715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Five working questions remain available even without an API key.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EC81E0D-83B3-BD28-6D5F-E6CB1B9D3FC2}"/>
              </a:ext>
            </a:extLst>
          </p:cNvPr>
          <p:cNvSpPr>
            <a:spLocks noGrp="1"/>
          </p:cNvSpPr>
          <p:nvPr/>
        </p:nvSpPr>
        <p:spPr>
          <a:xfrm>
            <a:off x="6557347" y="2110740"/>
            <a:ext cx="1258529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74419C-83C2-2E0E-EB8F-BF77976B304C}"/>
              </a:ext>
            </a:extLst>
          </p:cNvPr>
          <p:cNvSpPr>
            <a:spLocks noGrp="1"/>
          </p:cNvSpPr>
          <p:nvPr/>
        </p:nvSpPr>
        <p:spPr>
          <a:xfrm>
            <a:off x="8922928" y="2110740"/>
            <a:ext cx="1258529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00502CA-4468-4564-4957-682567EF2EA8}"/>
              </a:ext>
            </a:extLst>
          </p:cNvPr>
          <p:cNvSpPr>
            <a:spLocks noGrp="1"/>
          </p:cNvSpPr>
          <p:nvPr/>
        </p:nvSpPr>
        <p:spPr>
          <a:xfrm>
            <a:off x="2024063" y="2110740"/>
            <a:ext cx="1258529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</p:spTree>
    <p:extLst>
      <p:ext uri="{BB962C8B-B14F-4D97-AF65-F5344CB8AC3E}">
        <p14:creationId xmlns:p14="http://schemas.microsoft.com/office/powerpoint/2010/main" val="31178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560D1A6-CC3F-4A21-9294-57386D957295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CED703-3C7C-41C0-B284-67D3AB4D9EA4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The evaluator can run the complete app with one command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7F5346-C93D-4A84-84CA-270850B76D06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BF692-F0D9-4241-A511-751D9BE1A77A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09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12570A2-8C96-4BC8-AC06-405DE9D05690}"/>
              </a:ext>
            </a:extLst>
          </p:cNvPr>
          <p:cNvSpPr>
            <a:spLocks noGrp="1"/>
          </p:cNvSpPr>
          <p:nvPr/>
        </p:nvSpPr>
        <p:spPr>
          <a:xfrm>
            <a:off x="714375" y="1952625"/>
            <a:ext cx="6715125" cy="2952750"/>
          </a:xfrm>
          <a:prstGeom prst="roundRect">
            <a:avLst>
              <a:gd name="adj" fmla="val 3871"/>
            </a:avLst>
          </a:prstGeom>
          <a:solidFill>
            <a:srgbClr val="071A2D"/>
          </a:solidFill>
          <a:ln w="9525">
            <a:solidFill>
              <a:srgbClr val="071A2D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571191-8974-4ED5-8EB1-8F83E03A0ECB}"/>
              </a:ext>
            </a:extLst>
          </p:cNvPr>
          <p:cNvSpPr>
            <a:spLocks noGrp="1"/>
          </p:cNvSpPr>
          <p:nvPr/>
        </p:nvSpPr>
        <p:spPr>
          <a:xfrm>
            <a:off x="1190625" y="2809875"/>
            <a:ext cx="57626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72D5C4"/>
                </a:solidFill>
              </a:defRPr>
            </a:pPr>
            <a:r>
              <a:rPr sz="2550" b="1">
                <a:solidFill>
                  <a:srgbClr val="72D5C4"/>
                </a:solidFill>
              </a:rPr>
              <a:t>docker compose up --build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95BF40-789E-43FF-85F4-91B3B9060A60}"/>
              </a:ext>
            </a:extLst>
          </p:cNvPr>
          <p:cNvSpPr>
            <a:spLocks noGrp="1"/>
          </p:cNvSpPr>
          <p:nvPr/>
        </p:nvSpPr>
        <p:spPr>
          <a:xfrm>
            <a:off x="1143000" y="3714750"/>
            <a:ext cx="5857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Dataset mounted read-only · model artifact persisted · health check enabled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682BEA-B21C-40D2-9893-D60537C1AB49}"/>
              </a:ext>
            </a:extLst>
          </p:cNvPr>
          <p:cNvSpPr>
            <a:spLocks noGrp="1"/>
          </p:cNvSpPr>
          <p:nvPr/>
        </p:nvSpPr>
        <p:spPr>
          <a:xfrm>
            <a:off x="8048625" y="200025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✓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BF86EC-BD6A-4046-B853-B1C05DAFCAEF}"/>
              </a:ext>
            </a:extLst>
          </p:cNvPr>
          <p:cNvSpPr>
            <a:spLocks noGrp="1"/>
          </p:cNvSpPr>
          <p:nvPr/>
        </p:nvSpPr>
        <p:spPr>
          <a:xfrm>
            <a:off x="8477250" y="20002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Modular Python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BE8E1B-2896-4D29-906C-D5DE0C1D8E29}"/>
              </a:ext>
            </a:extLst>
          </p:cNvPr>
          <p:cNvSpPr>
            <a:spLocks noGrp="1"/>
          </p:cNvSpPr>
          <p:nvPr/>
        </p:nvSpPr>
        <p:spPr>
          <a:xfrm>
            <a:off x="8048625" y="26289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✓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89442-39BE-45F8-A472-CA0FCF48AF34}"/>
              </a:ext>
            </a:extLst>
          </p:cNvPr>
          <p:cNvSpPr>
            <a:spLocks noGrp="1"/>
          </p:cNvSpPr>
          <p:nvPr/>
        </p:nvSpPr>
        <p:spPr>
          <a:xfrm>
            <a:off x="8477250" y="26289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Environment contract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70106A-3C15-450E-92AD-1BB92D1BCD5A}"/>
              </a:ext>
            </a:extLst>
          </p:cNvPr>
          <p:cNvSpPr>
            <a:spLocks noGrp="1"/>
          </p:cNvSpPr>
          <p:nvPr/>
        </p:nvSpPr>
        <p:spPr>
          <a:xfrm>
            <a:off x="8048625" y="325755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✓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07B8CE-C6FB-4D13-95DB-5218ED656C06}"/>
              </a:ext>
            </a:extLst>
          </p:cNvPr>
          <p:cNvSpPr>
            <a:spLocks noGrp="1"/>
          </p:cNvSpPr>
          <p:nvPr/>
        </p:nvSpPr>
        <p:spPr>
          <a:xfrm>
            <a:off x="8477250" y="32575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Saved pipeline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2B7801-7241-4F74-B58B-912AD5C200AB}"/>
              </a:ext>
            </a:extLst>
          </p:cNvPr>
          <p:cNvSpPr>
            <a:spLocks noGrp="1"/>
          </p:cNvSpPr>
          <p:nvPr/>
        </p:nvSpPr>
        <p:spPr>
          <a:xfrm>
            <a:off x="8048625" y="38862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✓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3F2F3-5BFD-43E4-AF22-4C9CA387F7F2}"/>
              </a:ext>
            </a:extLst>
          </p:cNvPr>
          <p:cNvSpPr>
            <a:spLocks noGrp="1"/>
          </p:cNvSpPr>
          <p:nvPr/>
        </p:nvSpPr>
        <p:spPr>
          <a:xfrm>
            <a:off x="8477250" y="38862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Core tests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936006-D5CA-4221-9F71-7FD3C31CC8CD}"/>
              </a:ext>
            </a:extLst>
          </p:cNvPr>
          <p:cNvSpPr>
            <a:spLocks noGrp="1"/>
          </p:cNvSpPr>
          <p:nvPr/>
        </p:nvSpPr>
        <p:spPr>
          <a:xfrm>
            <a:off x="8048625" y="451485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✓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B64921-90F2-4A87-82B2-0646840E4143}"/>
              </a:ext>
            </a:extLst>
          </p:cNvPr>
          <p:cNvSpPr>
            <a:spLocks noGrp="1"/>
          </p:cNvSpPr>
          <p:nvPr/>
        </p:nvSpPr>
        <p:spPr>
          <a:xfrm>
            <a:off x="8477250" y="45148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No dataset in Git</a:t>
            </a:r>
          </a:p>
        </p:txBody>
      </p:sp>
    </p:spTree>
    <p:extLst>
      <p:ext uri="{BB962C8B-B14F-4D97-AF65-F5344CB8AC3E}">
        <p14:creationId xmlns:p14="http://schemas.microsoft.com/office/powerpoint/2010/main" val="1762142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28B3197-7568-4FA1-9652-D084DBB30726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VALIDATED APPLICATION OUTPUT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EB9B0E-4B3A-4F94-A534-F2352E11223A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EDA confirms scale, imbalance and portfolio patterns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FC8B59-DB02-4969-9007-BF03956E9687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42144C-CA69-4839-BC33-89CEDBB21FD4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10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53812" y="1666875"/>
            <a:ext cx="9084377" cy="4333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6823DAD-5CEB-4D41-8A31-E530209EA331}"/>
              </a:ext>
            </a:extLst>
          </p:cNvPr>
          <p:cNvSpPr>
            <a:spLocks noGrp="1"/>
          </p:cNvSpPr>
          <p:nvPr/>
        </p:nvSpPr>
        <p:spPr>
          <a:xfrm>
            <a:off x="781050" y="6076950"/>
            <a:ext cx="10572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307,511 applications · 121 source features · 8.07% observed default rate</a:t>
            </a:r>
          </a:p>
        </p:txBody>
      </p:sp>
    </p:spTree>
    <p:extLst>
      <p:ext uri="{BB962C8B-B14F-4D97-AF65-F5344CB8AC3E}">
        <p14:creationId xmlns:p14="http://schemas.microsoft.com/office/powerpoint/2010/main" val="909735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8B80EE-1835-47A5-BA58-7C51D679E1C3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VALIDATED APPLICATION OUTPUT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A95EF9-41D9-43E4-9EBB-3D3923178BF9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Applicant scoring produces an actionable risk band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336513-2F5D-4DED-A38E-B758D7116090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8EF882-615A-4499-9525-D517F4B145D3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11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5330" y="1666875"/>
            <a:ext cx="9021341" cy="4333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0F2BC1-175C-4DA5-A3BB-AC79114EE6B1}"/>
              </a:ext>
            </a:extLst>
          </p:cNvPr>
          <p:cNvSpPr>
            <a:spLocks noGrp="1"/>
          </p:cNvSpPr>
          <p:nvPr/>
        </p:nvSpPr>
        <p:spPr>
          <a:xfrm>
            <a:off x="781050" y="6076950"/>
            <a:ext cx="10572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Example output: 61.7% default probability · score 617 · High risk</a:t>
            </a:r>
          </a:p>
        </p:txBody>
      </p:sp>
    </p:spTree>
    <p:extLst>
      <p:ext uri="{BB962C8B-B14F-4D97-AF65-F5344CB8AC3E}">
        <p14:creationId xmlns:p14="http://schemas.microsoft.com/office/powerpoint/2010/main" val="656476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EF90947-F556-4951-8BF1-F7BF56E6B806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VALIDATED APPLICATION OUTPUT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A09394-8ADC-4789-8F30-D50A17C860CB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SHAP identifies the strongest drivers for one decision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11190A-E136-436C-BCF2-DD2E57C20111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CFF286-9CCD-4D14-82B8-CEEA38F8EBBB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12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78296" y="1666875"/>
            <a:ext cx="9635409" cy="4333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9049A7C-B202-4154-BB81-C297B20DCA16}"/>
              </a:ext>
            </a:extLst>
          </p:cNvPr>
          <p:cNvSpPr>
            <a:spLocks noGrp="1"/>
          </p:cNvSpPr>
          <p:nvPr/>
        </p:nvSpPr>
        <p:spPr>
          <a:xfrm>
            <a:off x="781050" y="6076950"/>
            <a:ext cx="10572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Red increases predicted risk; teal reduces predicted risk. Contributions are not causal.</a:t>
            </a:r>
          </a:p>
        </p:txBody>
      </p:sp>
    </p:spTree>
    <p:extLst>
      <p:ext uri="{BB962C8B-B14F-4D97-AF65-F5344CB8AC3E}">
        <p14:creationId xmlns:p14="http://schemas.microsoft.com/office/powerpoint/2010/main" val="1489122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58CDA06-C8D7-4D5A-AE04-0800F3B337C5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VALIDATED APPLICATION OUTPUT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0D8FDE-DCBC-43E9-91FE-DD7BC1A2604A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Surrogate rules translate model behaviour for review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940C54-0D56-44AD-8432-69F6AA59A95C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5A387B-9F5A-4BA4-B676-B53F28AE89A2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13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6693" y="1666875"/>
            <a:ext cx="9138614" cy="4333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75ADD72-B9C5-481C-AA4D-5CFE2AC58509}"/>
              </a:ext>
            </a:extLst>
          </p:cNvPr>
          <p:cNvSpPr>
            <a:spLocks noGrp="1"/>
          </p:cNvSpPr>
          <p:nvPr/>
        </p:nvSpPr>
        <p:spPr>
          <a:xfrm>
            <a:off x="781050" y="6076950"/>
            <a:ext cx="10572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Depth-3 rules support audit discussion and require policy-owner validation.</a:t>
            </a:r>
          </a:p>
        </p:txBody>
      </p:sp>
    </p:spTree>
    <p:extLst>
      <p:ext uri="{BB962C8B-B14F-4D97-AF65-F5344CB8AC3E}">
        <p14:creationId xmlns:p14="http://schemas.microsoft.com/office/powerpoint/2010/main" val="1062911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E2AE994-CB11-4201-BA25-C8E8BB58CEB2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VALIDATED APPLICATION OUTPUT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B6260D-F3FD-4A5D-AE41-1BF9AA830DFD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Natural-language questions return validated SQL evidence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2321C-3C06-4ECC-AB4E-970B150625B0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E8B695-C892-4D83-974C-3A7A8BA47626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14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73592" y="1666875"/>
            <a:ext cx="9044816" cy="4333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44EEF42-B1CB-46A2-B09A-AF478E411429}"/>
              </a:ext>
            </a:extLst>
          </p:cNvPr>
          <p:cNvSpPr>
            <a:spLocks noGrp="1"/>
          </p:cNvSpPr>
          <p:nvPr/>
        </p:nvSpPr>
        <p:spPr>
          <a:xfrm>
            <a:off x="781050" y="6076950"/>
            <a:ext cx="10572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Verified patterns include overall default rate and default rate by gender.</a:t>
            </a:r>
          </a:p>
        </p:txBody>
      </p:sp>
    </p:spTree>
    <p:extLst>
      <p:ext uri="{BB962C8B-B14F-4D97-AF65-F5344CB8AC3E}">
        <p14:creationId xmlns:p14="http://schemas.microsoft.com/office/powerpoint/2010/main" val="1106003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78EFA21-68C9-4772-8639-7A98CA768170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VALIDATED APPLICATION OUTPUT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E4768C-ACCE-4292-B842-00B391FEF47B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The baseline separates risk with ROC-AUC 0.744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E06B13-3FBA-435C-87C6-177E88C3B7CA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A5285A-3BDC-4EAB-9B6C-EA17157646B3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15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12435" y="1666875"/>
            <a:ext cx="8967130" cy="4333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FFA70A2-CBB3-455C-AE3E-061CB1AB2717}"/>
              </a:ext>
            </a:extLst>
          </p:cNvPr>
          <p:cNvSpPr>
            <a:spLocks noGrp="1"/>
          </p:cNvSpPr>
          <p:nvPr/>
        </p:nvSpPr>
        <p:spPr>
          <a:xfrm>
            <a:off x="781050" y="6076950"/>
            <a:ext cx="10572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5D6B7A"/>
                </a:solidFill>
              </a:defRPr>
            </a:pPr>
            <a:r>
              <a:rPr sz="1200" b="0">
                <a:solidFill>
                  <a:srgbClr val="5D6B7A"/>
                </a:solidFill>
              </a:rPr>
              <a:t>PR-AUC 0.225 · 61,503 test rows · stratified split and class-weighted training</a:t>
            </a:r>
          </a:p>
        </p:txBody>
      </p:sp>
    </p:spTree>
    <p:extLst>
      <p:ext uri="{BB962C8B-B14F-4D97-AF65-F5344CB8AC3E}">
        <p14:creationId xmlns:p14="http://schemas.microsoft.com/office/powerpoint/2010/main" val="1429900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BA2F7DB-BD50-452D-B45E-C454558C05EE}"/>
              </a:ext>
            </a:extLst>
          </p:cNvPr>
          <p:cNvSpPr>
            <a:spLocks noGrp="1"/>
          </p:cNvSpPr>
          <p:nvPr/>
        </p:nvSpPr>
        <p:spPr>
          <a:xfrm>
            <a:off x="666750" y="361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CREDITLENS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10FE0F-8539-4891-AE3E-3CBA74D8C0C2}"/>
              </a:ext>
            </a:extLst>
          </p:cNvPr>
          <p:cNvSpPr>
            <a:spLocks noGrp="1"/>
          </p:cNvSpPr>
          <p:nvPr/>
        </p:nvSpPr>
        <p:spPr>
          <a:xfrm>
            <a:off x="666750" y="723900"/>
            <a:ext cx="1081087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071A2D"/>
                </a:solidFill>
              </a:defRPr>
            </a:pPr>
            <a:r>
              <a:rPr sz="2700" b="1">
                <a:solidFill>
                  <a:srgbClr val="071A2D"/>
                </a:solidFill>
              </a:rPr>
              <a:t>The prototype is complete—and honest about production gaps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CA568F-AB24-40F3-9B05-73718D14A0B0}"/>
              </a:ext>
            </a:extLst>
          </p:cNvPr>
          <p:cNvSpPr>
            <a:spLocks noGrp="1"/>
          </p:cNvSpPr>
          <p:nvPr/>
        </p:nvSpPr>
        <p:spPr>
          <a:xfrm>
            <a:off x="666750" y="1390650"/>
            <a:ext cx="1085850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EC8AE1-D60B-4837-9150-6FC8820B8AE2}"/>
              </a:ext>
            </a:extLst>
          </p:cNvPr>
          <p:cNvSpPr>
            <a:spLocks noGrp="1"/>
          </p:cNvSpPr>
          <p:nvPr/>
        </p:nvSpPr>
        <p:spPr>
          <a:xfrm>
            <a:off x="11049000" y="6334125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1">
                <a:solidFill>
                  <a:srgbClr val="5D6B7A"/>
                </a:solidFill>
              </a:defRPr>
            </a:pPr>
            <a:r>
              <a:rPr sz="900" b="1">
                <a:solidFill>
                  <a:srgbClr val="5D6B7A"/>
                </a:solidFill>
              </a:rPr>
              <a:t>16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1D999-692C-45E4-8D65-3987C6E82462}"/>
              </a:ext>
            </a:extLst>
          </p:cNvPr>
          <p:cNvSpPr>
            <a:spLocks noGrp="1"/>
          </p:cNvSpPr>
          <p:nvPr/>
        </p:nvSpPr>
        <p:spPr>
          <a:xfrm>
            <a:off x="857250" y="1857375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DELIVERED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F89E1-BD93-475E-82E0-2BDF17B087AD}"/>
              </a:ext>
            </a:extLst>
          </p:cNvPr>
          <p:cNvSpPr>
            <a:spLocks noGrp="1"/>
          </p:cNvSpPr>
          <p:nvPr/>
        </p:nvSpPr>
        <p:spPr>
          <a:xfrm>
            <a:off x="6572250" y="1857375"/>
            <a:ext cx="428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PRODUCTION NEXT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D5DAC6-9532-4977-BF44-938EA9DD83EC}"/>
              </a:ext>
            </a:extLst>
          </p:cNvPr>
          <p:cNvSpPr>
            <a:spLocks noGrp="1"/>
          </p:cNvSpPr>
          <p:nvPr/>
        </p:nvSpPr>
        <p:spPr>
          <a:xfrm>
            <a:off x="857250" y="245745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✓  EDA + data quality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C22C40-755A-4A17-ADC1-B643FBCBE36A}"/>
              </a:ext>
            </a:extLst>
          </p:cNvPr>
          <p:cNvSpPr>
            <a:spLocks noGrp="1"/>
          </p:cNvSpPr>
          <p:nvPr/>
        </p:nvSpPr>
        <p:spPr>
          <a:xfrm>
            <a:off x="857250" y="300990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✓  Class-balanced risk model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642BB2-DC6F-48AF-B03C-5B1CD3E4A123}"/>
              </a:ext>
            </a:extLst>
          </p:cNvPr>
          <p:cNvSpPr>
            <a:spLocks noGrp="1"/>
          </p:cNvSpPr>
          <p:nvPr/>
        </p:nvSpPr>
        <p:spPr>
          <a:xfrm>
            <a:off x="857250" y="356235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✓  SHAP explanations + rules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DD7B5-EF0E-414E-AF8C-B6C00BF377B9}"/>
              </a:ext>
            </a:extLst>
          </p:cNvPr>
          <p:cNvSpPr>
            <a:spLocks noGrp="1"/>
          </p:cNvSpPr>
          <p:nvPr/>
        </p:nvSpPr>
        <p:spPr>
          <a:xfrm>
            <a:off x="857250" y="411480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✓  Guarded talk-to-data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BD485E-BF1D-4704-93A1-B375ADC63B82}"/>
              </a:ext>
            </a:extLst>
          </p:cNvPr>
          <p:cNvSpPr>
            <a:spLocks noGrp="1"/>
          </p:cNvSpPr>
          <p:nvPr/>
        </p:nvSpPr>
        <p:spPr>
          <a:xfrm>
            <a:off x="857250" y="466725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✓  Streamlit + Docker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A61941-7050-4B1C-8D18-450A78960C7C}"/>
              </a:ext>
            </a:extLst>
          </p:cNvPr>
          <p:cNvSpPr>
            <a:spLocks noGrp="1"/>
          </p:cNvSpPr>
          <p:nvPr/>
        </p:nvSpPr>
        <p:spPr>
          <a:xfrm>
            <a:off x="6572250" y="245745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→  Join bureau and repayment tables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C3E112-0AA2-49BE-89BC-11BFDE654C27}"/>
              </a:ext>
            </a:extLst>
          </p:cNvPr>
          <p:cNvSpPr>
            <a:spLocks noGrp="1"/>
          </p:cNvSpPr>
          <p:nvPr/>
        </p:nvSpPr>
        <p:spPr>
          <a:xfrm>
            <a:off x="6572250" y="300990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→  Calibrate bands to loss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EC3C13-671C-413A-AA65-7DF550EEB48F}"/>
              </a:ext>
            </a:extLst>
          </p:cNvPr>
          <p:cNvSpPr>
            <a:spLocks noGrp="1"/>
          </p:cNvSpPr>
          <p:nvPr/>
        </p:nvSpPr>
        <p:spPr>
          <a:xfrm>
            <a:off x="6572250" y="356235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→  Fairness and subgroup testing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4BD5C30-8214-41D2-8557-AF3A373141D6}"/>
              </a:ext>
            </a:extLst>
          </p:cNvPr>
          <p:cNvSpPr>
            <a:spLocks noGrp="1"/>
          </p:cNvSpPr>
          <p:nvPr/>
        </p:nvSpPr>
        <p:spPr>
          <a:xfrm>
            <a:off x="6572250" y="411480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→  Drift + model monitoring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F7CEFF-C4E2-4472-A4FC-DA11851EA0B7}"/>
              </a:ext>
            </a:extLst>
          </p:cNvPr>
          <p:cNvSpPr>
            <a:spLocks noGrp="1"/>
          </p:cNvSpPr>
          <p:nvPr/>
        </p:nvSpPr>
        <p:spPr>
          <a:xfrm>
            <a:off x="6572250" y="4667250"/>
            <a:ext cx="4524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071A2D"/>
                </a:solidFill>
              </a:defRPr>
            </a:pPr>
            <a:r>
              <a:rPr sz="1575" b="1">
                <a:solidFill>
                  <a:srgbClr val="071A2D"/>
                </a:solidFill>
              </a:rPr>
              <a:t>→  Authentication and PII controls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AD1BA6-9516-4D26-B91D-771821F8C043}"/>
              </a:ext>
            </a:extLst>
          </p:cNvPr>
          <p:cNvSpPr>
            <a:spLocks noGrp="1"/>
          </p:cNvSpPr>
          <p:nvPr/>
        </p:nvSpPr>
        <p:spPr>
          <a:xfrm>
            <a:off x="1333500" y="5667375"/>
            <a:ext cx="952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0F766E"/>
                </a:solidFill>
              </a:defRPr>
            </a:pPr>
            <a:r>
              <a:rPr sz="1875" b="1">
                <a:solidFill>
                  <a:srgbClr val="0F766E"/>
                </a:solidFill>
              </a:rPr>
              <a:t>Decision support, with human review and policy governance.</a:t>
            </a:r>
          </a:p>
        </p:txBody>
      </p:sp>
    </p:spTree>
    <p:extLst>
      <p:ext uri="{BB962C8B-B14F-4D97-AF65-F5344CB8AC3E}">
        <p14:creationId xmlns:p14="http://schemas.microsoft.com/office/powerpoint/2010/main" val="145264024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629</Words>
  <Application>Microsoft Office PowerPoint</Application>
  <DocSecurity>0</DocSecurity>
  <PresentationFormat>Widescreen</PresentationFormat>
  <Paragraphs>164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Angel Proshia</cp:lastModifiedBy>
  <cp:revision>1</cp:revision>
  <dcterms:created xsi:type="dcterms:W3CDTF">2026-09-05T18:48:49Z</dcterms:created>
  <dcterms:modified xsi:type="dcterms:W3CDTF">2026-09-07T06:48:38Z</dcterms:modified>
</cp:coreProperties>
</file>